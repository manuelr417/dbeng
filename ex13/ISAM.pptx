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</p:sldIdLst>
  <p:notesMasterIdLst>
    <p:notesMasterId r:id="rId2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a0af729e-ae9b-8c8c-4f31-f14544d8db2d}">
          <p14:sldIdLst>
            <p14:sldId id="256"/>
            <p14:sldId id="257"/>
            <p14:sldId id="258"/>
            <p14:sldId id="259"/>
          </p14:sldIdLst>
        </p14:section>
        <p14:section name="File Format" id="{c087292f-309d-580f-5678-849502866e75}">
          <p14:sldIdLst>
            <p14:sldId id="260"/>
            <p14:sldId id="261"/>
            <p14:sldId id="262"/>
          </p14:sldIdLst>
        </p14:section>
        <p14:section name="Operations" id="{51d42ba6-8832-1e97-4b3f-4845d6eea734}">
          <p14:sldIdLst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  <p14:sldId id="277"/>
          </p14:sldIdLst>
        </p14:section>
        <p14:section name="Design and Testing" id="{5cb32a63-786b-b5d0-3155-03ddaa891ed5}">
          <p14:sldIdLst>
            <p14:sldId id="278"/>
            <p14:sldId id="279"/>
            <p14:sldId id="280"/>
            <p14:sldId id="281"/>
          </p14:sldIdLst>
        </p14:section>
        <p14:section name="Wrap-up" id="{619c9933-94de-81e0-e713-74dfd430cb03}">
          <p14:sldIdLst>
            <p14:sldId id="28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notesMaster" Target="notesMasters/notesMaster1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  <a:p>
            <a:r>
              <a:rPr lang="en-US"/>
              <a:t>This example matches the three-leaf build on slide 9. Block 0 holds root=4. Following this value opens the separator page in block 4. That page contains keys 341 and 681 and child pointers P0=1, P1=2, P2=3. Each pointer names a child block.</a:t>
            </a:r>
          </a:p>
          <a:p>
            <a:r>
              <a:rPr lang="en-US"/>
              <a:t>The root is separate from the header. With n separator keys, a separator page has n+1 child pointers. The displayed slot order explains routing. Slide 6 shows the physical byte layout, which stores P0 after the entry array.</a:t>
            </a:r>
          </a:p>
          <a:p>
            <a:r>
              <a:rPr lang="en-US"/>
              <a:t>Header type widths: integers use 4 bytes, doubles use 8 bytes, and strings use their declared width. Table and column names use lengths followed by bytes. The header limits table names to 200 bytes.</a:t>
            </a:r>
          </a:p>
          <a:p>
            <a:r>
              <a:rPr lang="en-US"/>
              <a:t>The file identifies itself: magic, key type and width, table and column names
open() validates all of it against the bound schema before use
write_header() runs after every insert — the entry count and last block move
A deleted index file is a lazy rebuild, not an error — the catalog says what should exist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41248" y="6382512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Systems Engineering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4041648" y="6382512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Manuel Rodriguez Martinez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Database Systems Engineering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0632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800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Tree-Based Indexing: The ISAM Implementation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37490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ex13 — a SQL front door with an ISAM index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53949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 Rodriguez-Martinez, Ph.D.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Objectives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645920"/>
            <a:ext cx="5943600" cy="4297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lecture’s ISAM, now with bytes: one file format, five operations</a:t>
            </a:r>
            <a:endParaRPr lang="en-US" sz="16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index sits in the ex13 engine</a:t>
            </a:r>
            <a:endParaRPr lang="en-US" sz="16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 format: header, separator, leaf, and overflow pages</a:t>
            </a:r>
            <a:endParaRPr lang="en-US" sz="16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operations, three slides each: the operation, the index layout, the code</a:t>
            </a:r>
            <a:endParaRPr lang="en-US" sz="16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page-view discipline borrowed from SlottedPage</a:t>
            </a:r>
            <a:endParaRPr lang="en-US" sz="16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1175 checks — and a differential oracle — prove the design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732520" y="1783080"/>
            <a:ext cx="1554480" cy="411480"/>
          </a:xfrm>
          <a:prstGeom prst="roundRect">
            <a:avLst>
              <a:gd name="adj" fmla="val 8889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863840" y="2788920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9738360" y="2788920"/>
            <a:ext cx="1417320" cy="411480"/>
          </a:xfrm>
          <a:prstGeom prst="roundRect">
            <a:avLst>
              <a:gd name="adj" fmla="val 8889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269480" y="3794760"/>
            <a:ext cx="1234440" cy="411480"/>
          </a:xfrm>
          <a:prstGeom prst="roundRect">
            <a:avLst>
              <a:gd name="adj" fmla="val 8889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869680" y="3794760"/>
            <a:ext cx="1234440" cy="411480"/>
          </a:xfrm>
          <a:prstGeom prst="roundRect">
            <a:avLst>
              <a:gd name="adj" fmla="val 8889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469880" y="3794760"/>
            <a:ext cx="914400" cy="411480"/>
          </a:xfrm>
          <a:prstGeom prst="roundRect">
            <a:avLst>
              <a:gd name="adj" fmla="val 8889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9052560" y="4709160"/>
            <a:ext cx="868680" cy="365760"/>
          </a:xfrm>
          <a:prstGeom prst="roundRect">
            <a:avLst>
              <a:gd name="adj" fmla="val 10000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ovf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8641080" y="2194560"/>
            <a:ext cx="868680" cy="594360"/>
          </a:xfrm>
          <a:prstGeom prst="line">
            <a:avLst/>
          </a:prstGeom>
          <a:noFill/>
          <a:ln w="22225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9509760" y="2194560"/>
            <a:ext cx="868680" cy="594360"/>
          </a:xfrm>
          <a:prstGeom prst="line">
            <a:avLst/>
          </a:prstGeom>
          <a:noFill/>
          <a:ln w="22225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 flipH="1">
            <a:off x="7909560" y="3200400"/>
            <a:ext cx="640080" cy="59436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8549640" y="3200400"/>
            <a:ext cx="868680" cy="59436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0424160" y="3200400"/>
            <a:ext cx="502920" cy="59436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281160" y="4206240"/>
            <a:ext cx="182880" cy="502920"/>
          </a:xfrm>
          <a:prstGeom prst="line">
            <a:avLst/>
          </a:prstGeom>
          <a:noFill/>
          <a:ln w="1905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17" name="lg"/>
          <p:cNvSpPr/>
          <p:nvPr/>
        </p:nvSpPr>
        <p:spPr>
          <a:xfrm>
            <a:off x="7269480" y="5394960"/>
            <a:ext cx="201168" cy="201168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7562088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(separator) pages</a:t>
            </a:r>
            <a:endParaRPr lang="en-US" sz="1200" dirty="0"/>
          </a:p>
        </p:txBody>
      </p:sp>
      <p:sp>
        <p:nvSpPr>
          <p:cNvPr id="19" name="lg"/>
          <p:cNvSpPr/>
          <p:nvPr/>
        </p:nvSpPr>
        <p:spPr>
          <a:xfrm>
            <a:off x="7269480" y="5715000"/>
            <a:ext cx="201168" cy="201168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7562088" y="56692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(leaf) pages</a:t>
            </a:r>
            <a:endParaRPr lang="en-US" sz="1200" dirty="0"/>
          </a:p>
        </p:txBody>
      </p:sp>
      <p:sp>
        <p:nvSpPr>
          <p:cNvPr id="21" name="lg"/>
          <p:cNvSpPr/>
          <p:nvPr/>
        </p:nvSpPr>
        <p:spPr>
          <a:xfrm>
            <a:off x="7269480" y="6035040"/>
            <a:ext cx="201168" cy="201168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562088" y="5989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pages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Where the Index Sits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41248" y="1600200"/>
            <a:ext cx="5577840" cy="566928"/>
          </a:xfrm>
          <a:prstGeom prst="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ex13_cli — the SQL REPL + escape hatches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630168" y="2167128"/>
            <a:ext cx="0" cy="27432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5" name="Text 3"/>
          <p:cNvSpPr/>
          <p:nvPr/>
        </p:nvSpPr>
        <p:spPr>
          <a:xfrm>
            <a:off x="841248" y="2441448"/>
            <a:ext cx="5577840" cy="566928"/>
          </a:xfrm>
          <a:prstGeom prst="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exec/ — Binder · Planner · Executor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30168" y="3008376"/>
            <a:ext cx="0" cy="27432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7" name="Text 5"/>
          <p:cNvSpPr/>
          <p:nvPr/>
        </p:nvSpPr>
        <p:spPr>
          <a:xfrm>
            <a:off x="841248" y="3282696"/>
            <a:ext cx="5577840" cy="566928"/>
          </a:xfrm>
          <a:prstGeom prst="rect">
            <a:avLst>
              <a:gd name="adj" fmla="val 6452"/>
            </a:avLst>
          </a:prstGeom>
          <a:solidFill>
            <a:srgbClr val="DAE3F3"/>
          </a:solidFill>
          <a:ln w="19050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index/ — IsamIndex · KeyCodec · page views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630168" y="3849624"/>
            <a:ext cx="0" cy="27432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41248" y="4123944"/>
            <a:ext cx="5577840" cy="566928"/>
          </a:xfrm>
          <a:prstGeom prst="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bufpool/ — BufferManager (LRU, 8 frames)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3630168" y="4690872"/>
            <a:ext cx="0" cy="27432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841248" y="4965192"/>
            <a:ext cx="5577840" cy="566928"/>
          </a:xfrm>
          <a:prstGeom prst="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file/ — BlockFile: 4096-byte block I/O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5897880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index page is read and written through the buffer pool — the index never touches the file directly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812280" y="1600200"/>
            <a:ext cx="4526280" cy="4023360"/>
          </a:xfrm>
          <a:prstGeom prst="roundRect">
            <a:avLst>
              <a:gd name="adj" fmla="val 113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040880" y="1783080"/>
            <a:ext cx="4069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file per (data file, column)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22860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data/person.tbl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25603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heap — the table’s records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7040880" y="297180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2F5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data/person.tbl.pid.idx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7040880" y="3246120"/>
            <a:ext cx="4069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ISAM index on column pid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040880" y="3703320"/>
            <a:ext cx="4069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once over the heap’s rows, then maintained incrementally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reads or writes heap records — callers hand in values and row addresses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7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keys travel as encoded bytes; rids are (page, slot) pairs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Two Castes of Pages</a:t>
            </a:r>
            <a:endParaRPr lang="en-US" dirty="0"/>
          </a:p>
        </p:txBody>
      </p:sp>
      <p:sp>
        <p:nvSpPr>
          <p:cNvPr id="23" name="Shape 21"/>
          <p:cNvSpPr/>
          <p:nvPr/>
        </p:nvSpPr>
        <p:spPr>
          <a:xfrm>
            <a:off x="841248" y="5486400"/>
            <a:ext cx="4892040" cy="777240"/>
          </a:xfrm>
          <a:prstGeom prst="roundRect">
            <a:avLst>
              <a:gd name="adj" fmla="val 5882"/>
            </a:avLst>
          </a:prstGeom>
          <a:solidFill>
            <a:srgbClr val="DAE3F3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60120" y="5559552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pages — SeparatorPage.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bottom-up, then frozen: no insert ever touches one.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5989320" y="5486400"/>
            <a:ext cx="5349240" cy="777240"/>
          </a:xfrm>
          <a:prstGeom prst="roundRect">
            <a:avLst>
              <a:gd name="adj" fmla="val 5882"/>
            </a:avLst>
          </a:prstGeom>
          <a:solidFill>
            <a:srgbClr val="FBE5D6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108192" y="5559552"/>
            <a:ext cx="5120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pages — LeafPage + OverflowPage.  </a:t>
            </a:r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(key, rid) entries; overflow chains absorb inserts.</a:t>
            </a:r>
            <a:endParaRPr lang="en-US" sz="1250" dirty="0"/>
          </a:p>
        </p:txBody>
      </p:sp>
      <p:sp>
        <p:nvSpPr>
          <p:cNvPr id="72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  <p:sp>
        <p:nvSpPr>
          <p:cNvPr id="27" name="Root page heading"/>
          <p:cNvSpPr/>
          <p:nvPr/>
        </p:nvSpPr>
        <p:spPr>
          <a:xfrm>
            <a:off x="3291840" y="960120"/>
            <a:ext cx="4572000" cy="310896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600" b="1">
                <a:solidFill>
                  <a:srgbClr val="2F5597"/>
                </a:solidFill>
                <a:latin typeface="Calibri"/>
              </a:rPr>
              <a:t>Root separator page</a:t>
            </a:r>
            <a:endParaRPr lang="en-US" sz="1600"/>
          </a:p>
        </p:txBody>
      </p:sp>
      <p:sp>
        <p:nvSpPr>
          <p:cNvPr id="28" name="Root fanout heading"/>
          <p:cNvSpPr/>
          <p:nvPr/>
        </p:nvSpPr>
        <p:spPr>
          <a:xfrm>
            <a:off x="3291840" y="1289304"/>
            <a:ext cx="4572000" cy="27432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300" b="0">
                <a:solidFill>
                  <a:srgbClr val="2F5597"/>
                </a:solidFill>
                <a:latin typeface="Calibri"/>
              </a:rPr>
              <a:t>3 separator keys and 4 child pointers</a:t>
            </a:r>
            <a:endParaRPr lang="en-US" sz="1300"/>
          </a:p>
        </p:txBody>
      </p:sp>
      <p:sp>
        <p:nvSpPr>
          <p:cNvPr id="29" name="Root slot 0"/>
          <p:cNvSpPr/>
          <p:nvPr/>
        </p:nvSpPr>
        <p:spPr>
          <a:xfrm>
            <a:off x="3703320" y="1700784"/>
            <a:ext cx="621792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P0</a:t>
            </a:r>
            <a:endParaRPr lang="en-US" sz="1400"/>
          </a:p>
        </p:txBody>
      </p:sp>
      <p:sp>
        <p:nvSpPr>
          <p:cNvPr id="30" name="Root slot 1"/>
          <p:cNvSpPr/>
          <p:nvPr/>
        </p:nvSpPr>
        <p:spPr>
          <a:xfrm>
            <a:off x="4325112" y="1700784"/>
            <a:ext cx="62179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K1</a:t>
            </a:r>
            <a:endParaRPr lang="en-US" sz="1400"/>
          </a:p>
        </p:txBody>
      </p:sp>
      <p:sp>
        <p:nvSpPr>
          <p:cNvPr id="31" name="Root slot 2"/>
          <p:cNvSpPr/>
          <p:nvPr/>
        </p:nvSpPr>
        <p:spPr>
          <a:xfrm>
            <a:off x="4946904" y="1700784"/>
            <a:ext cx="621792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P1</a:t>
            </a:r>
            <a:endParaRPr lang="en-US" sz="1400"/>
          </a:p>
        </p:txBody>
      </p:sp>
      <p:sp>
        <p:nvSpPr>
          <p:cNvPr id="32" name="Root slot 3"/>
          <p:cNvSpPr/>
          <p:nvPr/>
        </p:nvSpPr>
        <p:spPr>
          <a:xfrm>
            <a:off x="5568696" y="1700784"/>
            <a:ext cx="62179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K2</a:t>
            </a:r>
            <a:endParaRPr lang="en-US" sz="1400"/>
          </a:p>
        </p:txBody>
      </p:sp>
      <p:sp>
        <p:nvSpPr>
          <p:cNvPr id="33" name="Root slot 4"/>
          <p:cNvSpPr/>
          <p:nvPr/>
        </p:nvSpPr>
        <p:spPr>
          <a:xfrm>
            <a:off x="6190488" y="1700784"/>
            <a:ext cx="621792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P2</a:t>
            </a:r>
            <a:endParaRPr lang="en-US" sz="1400"/>
          </a:p>
        </p:txBody>
      </p:sp>
      <p:sp>
        <p:nvSpPr>
          <p:cNvPr id="34" name="Root slot 5"/>
          <p:cNvSpPr/>
          <p:nvPr/>
        </p:nvSpPr>
        <p:spPr>
          <a:xfrm>
            <a:off x="6812280" y="1700784"/>
            <a:ext cx="621792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K3</a:t>
            </a:r>
            <a:endParaRPr lang="en-US" sz="1400"/>
          </a:p>
        </p:txBody>
      </p:sp>
      <p:sp>
        <p:nvSpPr>
          <p:cNvPr id="35" name="Root slot 6"/>
          <p:cNvSpPr/>
          <p:nvPr/>
        </p:nvSpPr>
        <p:spPr>
          <a:xfrm>
            <a:off x="7434072" y="1700784"/>
            <a:ext cx="621792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P3</a:t>
            </a:r>
            <a:endParaRPr lang="en-US" sz="1400"/>
          </a:p>
        </p:txBody>
      </p:sp>
      <p:sp>
        <p:nvSpPr>
          <p:cNvPr id="36" name="Root P0 child pointer"/>
          <p:cNvSpPr/>
          <p:nvPr/>
        </p:nvSpPr>
        <p:spPr>
          <a:xfrm flipH="1">
            <a:off x="2089404" y="2203704"/>
            <a:ext cx="1924812" cy="44805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37" name="Child separator 0"/>
          <p:cNvSpPr/>
          <p:nvPr/>
        </p:nvSpPr>
        <p:spPr>
          <a:xfrm>
            <a:off x="1175004" y="2651760"/>
            <a:ext cx="1828800" cy="45720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separator</a:t>
            </a:r>
            <a:endParaRPr lang="en-US" sz="1200"/>
          </a:p>
        </p:txBody>
      </p:sp>
      <p:sp>
        <p:nvSpPr>
          <p:cNvPr id="38" name="Separator 0 leaf pointer 0"/>
          <p:cNvSpPr/>
          <p:nvPr/>
        </p:nvSpPr>
        <p:spPr>
          <a:xfrm flipH="1">
            <a:off x="1417320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39" name="Separator 0 leaf pointer 1"/>
          <p:cNvSpPr/>
          <p:nvPr/>
        </p:nvSpPr>
        <p:spPr>
          <a:xfrm>
            <a:off x="2409444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0" name="Root P1 child pointer"/>
          <p:cNvSpPr/>
          <p:nvPr/>
        </p:nvSpPr>
        <p:spPr>
          <a:xfrm flipH="1">
            <a:off x="4777740" y="2203704"/>
            <a:ext cx="480060" cy="44805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1" name="Child separator 1"/>
          <p:cNvSpPr/>
          <p:nvPr/>
        </p:nvSpPr>
        <p:spPr>
          <a:xfrm>
            <a:off x="3863340" y="2651760"/>
            <a:ext cx="1828800" cy="45720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separator</a:t>
            </a:r>
            <a:endParaRPr lang="en-US" sz="1200"/>
          </a:p>
        </p:txBody>
      </p:sp>
      <p:sp>
        <p:nvSpPr>
          <p:cNvPr id="42" name="Separator 1 leaf pointer 0"/>
          <p:cNvSpPr/>
          <p:nvPr/>
        </p:nvSpPr>
        <p:spPr>
          <a:xfrm flipH="1">
            <a:off x="4105656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3" name="Separator 1 leaf pointer 1"/>
          <p:cNvSpPr/>
          <p:nvPr/>
        </p:nvSpPr>
        <p:spPr>
          <a:xfrm>
            <a:off x="5097780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4" name="Root P2 child pointer"/>
          <p:cNvSpPr/>
          <p:nvPr/>
        </p:nvSpPr>
        <p:spPr>
          <a:xfrm>
            <a:off x="6501384" y="2203704"/>
            <a:ext cx="964692" cy="44805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5" name="Child separator 2"/>
          <p:cNvSpPr/>
          <p:nvPr/>
        </p:nvSpPr>
        <p:spPr>
          <a:xfrm>
            <a:off x="6551676" y="2651760"/>
            <a:ext cx="1828800" cy="45720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separator</a:t>
            </a:r>
            <a:endParaRPr lang="en-US" sz="1200"/>
          </a:p>
        </p:txBody>
      </p:sp>
      <p:sp>
        <p:nvSpPr>
          <p:cNvPr id="46" name="Separator 2 leaf pointer 0"/>
          <p:cNvSpPr/>
          <p:nvPr/>
        </p:nvSpPr>
        <p:spPr>
          <a:xfrm flipH="1">
            <a:off x="6793992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7" name="Separator 2 leaf pointer 1"/>
          <p:cNvSpPr/>
          <p:nvPr/>
        </p:nvSpPr>
        <p:spPr>
          <a:xfrm>
            <a:off x="7786116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8" name="Root P3 child pointer"/>
          <p:cNvSpPr/>
          <p:nvPr/>
        </p:nvSpPr>
        <p:spPr>
          <a:xfrm>
            <a:off x="7744968" y="2203704"/>
            <a:ext cx="2409444" cy="44805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9" name="Child separator 3"/>
          <p:cNvSpPr/>
          <p:nvPr/>
        </p:nvSpPr>
        <p:spPr>
          <a:xfrm>
            <a:off x="9240012" y="2651760"/>
            <a:ext cx="1828800" cy="45720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separator</a:t>
            </a:r>
            <a:endParaRPr lang="en-US" sz="1200"/>
          </a:p>
        </p:txBody>
      </p:sp>
      <p:sp>
        <p:nvSpPr>
          <p:cNvPr id="50" name="Separator 3 leaf pointer 0"/>
          <p:cNvSpPr/>
          <p:nvPr/>
        </p:nvSpPr>
        <p:spPr>
          <a:xfrm flipH="1">
            <a:off x="9482328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51" name="Separator 3 leaf pointer 1"/>
          <p:cNvSpPr/>
          <p:nvPr/>
        </p:nvSpPr>
        <p:spPr>
          <a:xfrm>
            <a:off x="10474452" y="3108960"/>
            <a:ext cx="352044" cy="50292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52" name="Leaf 1"/>
          <p:cNvSpPr/>
          <p:nvPr/>
        </p:nvSpPr>
        <p:spPr>
          <a:xfrm>
            <a:off x="914400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L1</a:t>
            </a:r>
            <a:endParaRPr lang="en-US" sz="1200"/>
          </a:p>
        </p:txBody>
      </p:sp>
      <p:sp>
        <p:nvSpPr>
          <p:cNvPr id="53" name="Leaf link 1"/>
          <p:cNvSpPr/>
          <p:nvPr/>
        </p:nvSpPr>
        <p:spPr>
          <a:xfrm>
            <a:off x="1920240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54" name="Leaf 2"/>
          <p:cNvSpPr/>
          <p:nvPr/>
        </p:nvSpPr>
        <p:spPr>
          <a:xfrm>
            <a:off x="2258568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L2</a:t>
            </a:r>
            <a:endParaRPr lang="en-US" sz="1200"/>
          </a:p>
        </p:txBody>
      </p:sp>
      <p:sp>
        <p:nvSpPr>
          <p:cNvPr id="55" name="Leaf link 2"/>
          <p:cNvSpPr/>
          <p:nvPr/>
        </p:nvSpPr>
        <p:spPr>
          <a:xfrm>
            <a:off x="3264408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56" name="Leaf 3"/>
          <p:cNvSpPr/>
          <p:nvPr/>
        </p:nvSpPr>
        <p:spPr>
          <a:xfrm>
            <a:off x="3602736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L3</a:t>
            </a:r>
            <a:endParaRPr lang="en-US" sz="1200"/>
          </a:p>
        </p:txBody>
      </p:sp>
      <p:sp>
        <p:nvSpPr>
          <p:cNvPr id="57" name="Leaf link 3"/>
          <p:cNvSpPr/>
          <p:nvPr/>
        </p:nvSpPr>
        <p:spPr>
          <a:xfrm>
            <a:off x="4608576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58" name="Leaf 4"/>
          <p:cNvSpPr/>
          <p:nvPr/>
        </p:nvSpPr>
        <p:spPr>
          <a:xfrm>
            <a:off x="4946904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L4</a:t>
            </a:r>
            <a:endParaRPr lang="en-US" sz="1200"/>
          </a:p>
        </p:txBody>
      </p:sp>
      <p:sp>
        <p:nvSpPr>
          <p:cNvPr id="59" name="Leaf link 4"/>
          <p:cNvSpPr/>
          <p:nvPr/>
        </p:nvSpPr>
        <p:spPr>
          <a:xfrm>
            <a:off x="5952744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60" name="Leaf 5"/>
          <p:cNvSpPr/>
          <p:nvPr/>
        </p:nvSpPr>
        <p:spPr>
          <a:xfrm>
            <a:off x="6291072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L5</a:t>
            </a:r>
            <a:endParaRPr lang="en-US" sz="1200"/>
          </a:p>
        </p:txBody>
      </p:sp>
      <p:sp>
        <p:nvSpPr>
          <p:cNvPr id="61" name="Leaf link 5"/>
          <p:cNvSpPr/>
          <p:nvPr/>
        </p:nvSpPr>
        <p:spPr>
          <a:xfrm>
            <a:off x="7296912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62" name="Leaf 6"/>
          <p:cNvSpPr/>
          <p:nvPr/>
        </p:nvSpPr>
        <p:spPr>
          <a:xfrm>
            <a:off x="7635240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L6</a:t>
            </a:r>
            <a:endParaRPr lang="en-US" sz="1200"/>
          </a:p>
        </p:txBody>
      </p:sp>
      <p:sp>
        <p:nvSpPr>
          <p:cNvPr id="63" name="Leaf link 6"/>
          <p:cNvSpPr/>
          <p:nvPr/>
        </p:nvSpPr>
        <p:spPr>
          <a:xfrm>
            <a:off x="8641080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64" name="Leaf 7"/>
          <p:cNvSpPr/>
          <p:nvPr/>
        </p:nvSpPr>
        <p:spPr>
          <a:xfrm>
            <a:off x="8979408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L7</a:t>
            </a:r>
            <a:endParaRPr lang="en-US" sz="1200"/>
          </a:p>
        </p:txBody>
      </p:sp>
      <p:sp>
        <p:nvSpPr>
          <p:cNvPr id="65" name="Leaf link 7"/>
          <p:cNvSpPr/>
          <p:nvPr/>
        </p:nvSpPr>
        <p:spPr>
          <a:xfrm>
            <a:off x="9985248" y="3840480"/>
            <a:ext cx="338328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66" name="Leaf 8"/>
          <p:cNvSpPr/>
          <p:nvPr/>
        </p:nvSpPr>
        <p:spPr>
          <a:xfrm>
            <a:off x="10323576" y="3611880"/>
            <a:ext cx="1005840" cy="45720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L8</a:t>
            </a:r>
            <a:endParaRPr lang="en-US" sz="1200"/>
          </a:p>
        </p:txBody>
      </p:sp>
      <p:sp>
        <p:nvSpPr>
          <p:cNvPr id="67" name="Leaf overflow head"/>
          <p:cNvSpPr/>
          <p:nvPr/>
        </p:nvSpPr>
        <p:spPr>
          <a:xfrm>
            <a:off x="5449824" y="4069080"/>
            <a:ext cx="0" cy="320040"/>
          </a:xfrm>
          <a:prstGeom prst="line">
            <a:avLst/>
          </a:prstGeom>
          <a:noFill/>
          <a:ln w="19050">
            <a:solidFill>
              <a:srgbClr val="7F7F7F"/>
            </a:solidFill>
            <a:tailEnd type="triangle" w="sm" len="sm"/>
          </a:ln>
        </p:spPr>
      </p:sp>
      <p:sp>
        <p:nvSpPr>
          <p:cNvPr id="68" name="Overflow page 1"/>
          <p:cNvSpPr/>
          <p:nvPr/>
        </p:nvSpPr>
        <p:spPr>
          <a:xfrm>
            <a:off x="4718304" y="4389120"/>
            <a:ext cx="146304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overflow</a:t>
            </a:r>
            <a:endParaRPr lang="en-US" sz="1200"/>
          </a:p>
        </p:txBody>
      </p:sp>
      <p:sp>
        <p:nvSpPr>
          <p:cNvPr id="69" name="Overflow next"/>
          <p:cNvSpPr/>
          <p:nvPr/>
        </p:nvSpPr>
        <p:spPr>
          <a:xfrm>
            <a:off x="5449824" y="4754880"/>
            <a:ext cx="0" cy="182880"/>
          </a:xfrm>
          <a:prstGeom prst="line">
            <a:avLst/>
          </a:prstGeom>
          <a:noFill/>
          <a:ln w="19050">
            <a:solidFill>
              <a:srgbClr val="7F7F7F"/>
            </a:solidFill>
            <a:tailEnd type="triangle" w="sm" len="sm"/>
          </a:ln>
        </p:spPr>
      </p:sp>
      <p:sp>
        <p:nvSpPr>
          <p:cNvPr id="70" name="Overflow page 2"/>
          <p:cNvSpPr/>
          <p:nvPr/>
        </p:nvSpPr>
        <p:spPr>
          <a:xfrm>
            <a:off x="4718304" y="4937760"/>
            <a:ext cx="1463040" cy="365760"/>
          </a:xfrm>
          <a:prstGeom prst="rect">
            <a:avLst/>
          </a:prstGeom>
          <a:solidFill>
            <a:srgbClr val="F2F2F2"/>
          </a:solidFill>
          <a:ln w="12700">
            <a:solidFill>
              <a:srgbClr val="7F7F7F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overflow</a:t>
            </a:r>
            <a:endParaRPr lang="en-US" sz="1200"/>
          </a:p>
        </p:txBody>
      </p:sp>
      <p:sp>
        <p:nvSpPr>
          <p:cNvPr id="71" name="Root fanout explanation"/>
          <p:cNvSpPr/>
          <p:nvPr/>
        </p:nvSpPr>
        <p:spPr>
          <a:xfrm>
            <a:off x="7406640" y="4434840"/>
            <a:ext cx="3657600" cy="59436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l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A separator page with n keys</a:t>
            </a:r>
            <a:endParaRPr lang="en-US" sz="1400"/>
          </a:p>
          <a:p>
            <a:pPr algn="l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has n + 1 child pointers.</a:t>
            </a:r>
            <a:endParaRPr lang="en-US" sz="140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Header, Root, and Child Pages</a:t>
            </a:r>
            <a:endParaRPr lang="en-US" dirty="0"/>
          </a:p>
        </p:txBody>
      </p:sp>
      <p:sp>
        <p:nvSpPr>
          <p:cNvPr id="3" name="hdr"/>
          <p:cNvSpPr/>
          <p:nvPr/>
        </p:nvSpPr>
        <p:spPr>
          <a:xfrm>
            <a:off x="841248" y="1554480"/>
            <a:ext cx="4069080" cy="4572000"/>
          </a:xfrm>
          <a:prstGeom prst="rect">
            <a:avLst>
              <a:gd name="adj" fmla="val 1000"/>
            </a:avLst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05840" y="16642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 header, block 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005840" y="2011680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331720" y="2011680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"ISAM"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005840" y="2414016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type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331720" y="2414016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Integer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2816352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width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2331720" y="2816352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bytes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005840" y="3218688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table name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331720" y="3218688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person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005840" y="3621024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 name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331720" y="3621024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005840" y="4023360"/>
            <a:ext cx="1325880" cy="347472"/>
          </a:xfrm>
          <a:prstGeom prst="rect">
            <a:avLst/>
          </a:prstGeom>
          <a:ln w="6350">
            <a:solidFill>
              <a:srgbClr val="2F5597"/>
            </a:solidFill>
          </a:ln>
          <a:solidFill>
            <a:srgbClr val="DAE3F3"/>
          </a:solidFill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 b="1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block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331720" y="4023360"/>
            <a:ext cx="2414016" cy="347472"/>
          </a:xfrm>
          <a:prstGeom prst="rect">
            <a:avLst/>
          </a:prstGeom>
          <a:ln w="6350">
            <a:solidFill>
              <a:srgbClr val="2F5597"/>
            </a:solidFill>
          </a:ln>
          <a:solidFill>
            <a:srgbClr val="DAE3F3"/>
          </a:solidFill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 b="1">
                <a:solidFill>
                  <a:srgbClr val="2F559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(u32)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05840" y="4425696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leaf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331720" y="4425696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(u32)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005840" y="4828032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 count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331720" y="4828032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 (u32)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005840" y="5230368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count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2331720" y="5230368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1000 (u64)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005840" y="5632704"/>
            <a:ext cx="1325880" cy="347472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last block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331720" y="5632704"/>
            <a:ext cx="2414016" cy="347472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</a:ln>
        </p:spPr>
        <p:txBody>
          <a:bodyPr wrap="square" lIns="762" tIns="762" rIns="762" bIns="762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(u32)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  <p:sp>
        <p:nvSpPr>
          <p:cNvPr id="26" name="Header root pointer horizontal"/>
          <p:cNvSpPr/>
          <p:nvPr/>
        </p:nvSpPr>
        <p:spPr>
          <a:xfrm>
            <a:off x="4745736" y="4197096"/>
            <a:ext cx="603504" cy="0"/>
          </a:xfrm>
          <a:prstGeom prst="line">
            <a:avLst/>
          </a:prstGeom>
          <a:noFill/>
          <a:ln w="19050">
            <a:solidFill>
              <a:srgbClr val="2F5597"/>
            </a:solidFill>
          </a:ln>
        </p:spPr>
      </p:sp>
      <p:sp>
        <p:nvSpPr>
          <p:cNvPr id="27" name="Header root pointer vertical"/>
          <p:cNvSpPr/>
          <p:nvPr/>
        </p:nvSpPr>
        <p:spPr>
          <a:xfrm flipV="1">
            <a:off x="5349240" y="2862072"/>
            <a:ext cx="0" cy="1335024"/>
          </a:xfrm>
          <a:prstGeom prst="line">
            <a:avLst/>
          </a:prstGeom>
          <a:noFill/>
          <a:ln w="19050">
            <a:solidFill>
              <a:srgbClr val="2F5597"/>
            </a:solidFill>
          </a:ln>
        </p:spPr>
      </p:sp>
      <p:sp>
        <p:nvSpPr>
          <p:cNvPr id="28" name="Header root pointer to block 4"/>
          <p:cNvSpPr/>
          <p:nvPr/>
        </p:nvSpPr>
        <p:spPr>
          <a:xfrm>
            <a:off x="5349240" y="2862072"/>
            <a:ext cx="685800" cy="0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29" name="Root page title"/>
          <p:cNvSpPr/>
          <p:nvPr/>
        </p:nvSpPr>
        <p:spPr>
          <a:xfrm>
            <a:off x="6035040" y="1645920"/>
            <a:ext cx="52120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600" b="1">
                <a:solidFill>
                  <a:srgbClr val="2F5597"/>
                </a:solidFill>
                <a:latin typeface="Calibri"/>
              </a:rPr>
              <a:t>Root separator page, block 4</a:t>
            </a:r>
            <a:endParaRPr lang="en-US" sz="1600"/>
          </a:p>
        </p:txBody>
      </p:sp>
      <p:sp>
        <p:nvSpPr>
          <p:cNvPr id="30" name="Root contents explanation"/>
          <p:cNvSpPr/>
          <p:nvPr/>
        </p:nvSpPr>
        <p:spPr>
          <a:xfrm>
            <a:off x="6035040" y="2029968"/>
            <a:ext cx="5212080" cy="310896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300" b="0">
                <a:solidFill>
                  <a:srgbClr val="2F5597"/>
                </a:solidFill>
                <a:latin typeface="Calibri"/>
              </a:rPr>
              <a:t>Keys and child pointers live in this page</a:t>
            </a:r>
            <a:endParaRPr lang="en-US" sz="1300"/>
          </a:p>
        </p:txBody>
      </p:sp>
      <p:sp>
        <p:nvSpPr>
          <p:cNvPr id="31" name="Root block 4 slot 0"/>
          <p:cNvSpPr/>
          <p:nvPr/>
        </p:nvSpPr>
        <p:spPr>
          <a:xfrm>
            <a:off x="6035040" y="2542032"/>
            <a:ext cx="1042416" cy="64008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P0</a:t>
            </a:r>
            <a:endParaRPr lang="en-US" sz="1400"/>
          </a:p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block 1</a:t>
            </a:r>
            <a:endParaRPr lang="en-US" sz="1400"/>
          </a:p>
        </p:txBody>
      </p:sp>
      <p:sp>
        <p:nvSpPr>
          <p:cNvPr id="32" name="Root block 4 slot 1"/>
          <p:cNvSpPr/>
          <p:nvPr/>
        </p:nvSpPr>
        <p:spPr>
          <a:xfrm>
            <a:off x="7077456" y="2542032"/>
            <a:ext cx="1042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K1</a:t>
            </a:r>
            <a:endParaRPr lang="en-US" sz="1400"/>
          </a:p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341</a:t>
            </a:r>
            <a:endParaRPr lang="en-US" sz="1400"/>
          </a:p>
        </p:txBody>
      </p:sp>
      <p:sp>
        <p:nvSpPr>
          <p:cNvPr id="33" name="Root block 4 slot 2"/>
          <p:cNvSpPr/>
          <p:nvPr/>
        </p:nvSpPr>
        <p:spPr>
          <a:xfrm>
            <a:off x="8119872" y="2542032"/>
            <a:ext cx="1042416" cy="64008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P1</a:t>
            </a:r>
            <a:endParaRPr lang="en-US" sz="1400"/>
          </a:p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block 2</a:t>
            </a:r>
            <a:endParaRPr lang="en-US" sz="1400"/>
          </a:p>
        </p:txBody>
      </p:sp>
      <p:sp>
        <p:nvSpPr>
          <p:cNvPr id="34" name="Root block 4 slot 3"/>
          <p:cNvSpPr/>
          <p:nvPr/>
        </p:nvSpPr>
        <p:spPr>
          <a:xfrm>
            <a:off x="9162288" y="2542032"/>
            <a:ext cx="1042416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K2</a:t>
            </a:r>
            <a:endParaRPr lang="en-US" sz="1400"/>
          </a:p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681</a:t>
            </a:r>
            <a:endParaRPr lang="en-US" sz="1400"/>
          </a:p>
        </p:txBody>
      </p:sp>
      <p:sp>
        <p:nvSpPr>
          <p:cNvPr id="35" name="Root block 4 slot 4"/>
          <p:cNvSpPr/>
          <p:nvPr/>
        </p:nvSpPr>
        <p:spPr>
          <a:xfrm>
            <a:off x="10204704" y="2542032"/>
            <a:ext cx="1042416" cy="64008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P2</a:t>
            </a:r>
            <a:endParaRPr lang="en-US" sz="1400"/>
          </a:p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block 3</a:t>
            </a:r>
            <a:endParaRPr lang="en-US" sz="1400"/>
          </a:p>
        </p:txBody>
      </p:sp>
      <p:sp>
        <p:nvSpPr>
          <p:cNvPr id="36" name="Root child pointer P0"/>
          <p:cNvSpPr/>
          <p:nvPr/>
        </p:nvSpPr>
        <p:spPr>
          <a:xfrm>
            <a:off x="6556248" y="3182112"/>
            <a:ext cx="301752" cy="749808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37" name="Child leaf block 1"/>
          <p:cNvSpPr/>
          <p:nvPr/>
        </p:nvSpPr>
        <p:spPr>
          <a:xfrm>
            <a:off x="6035040" y="3931920"/>
            <a:ext cx="1645920" cy="65836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Leaf block 1</a:t>
            </a:r>
            <a:endParaRPr lang="en-US" sz="1200"/>
          </a:p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keys 1–340</a:t>
            </a:r>
            <a:endParaRPr lang="en-US" sz="1200"/>
          </a:p>
        </p:txBody>
      </p:sp>
      <p:sp>
        <p:nvSpPr>
          <p:cNvPr id="38" name="Leaf next pointer 1"/>
          <p:cNvSpPr/>
          <p:nvPr/>
        </p:nvSpPr>
        <p:spPr>
          <a:xfrm>
            <a:off x="7680960" y="4261104"/>
            <a:ext cx="137160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39" name="Root child pointer P1"/>
          <p:cNvSpPr/>
          <p:nvPr/>
        </p:nvSpPr>
        <p:spPr>
          <a:xfrm>
            <a:off x="8641080" y="3182112"/>
            <a:ext cx="0" cy="749808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0" name="Child leaf block 2"/>
          <p:cNvSpPr/>
          <p:nvPr/>
        </p:nvSpPr>
        <p:spPr>
          <a:xfrm>
            <a:off x="7818120" y="3931920"/>
            <a:ext cx="1645920" cy="65836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Leaf block 2</a:t>
            </a:r>
            <a:endParaRPr lang="en-US" sz="1200"/>
          </a:p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keys 341–680</a:t>
            </a:r>
            <a:endParaRPr lang="en-US" sz="1200"/>
          </a:p>
        </p:txBody>
      </p:sp>
      <p:sp>
        <p:nvSpPr>
          <p:cNvPr id="41" name="Leaf next pointer 2"/>
          <p:cNvSpPr/>
          <p:nvPr/>
        </p:nvSpPr>
        <p:spPr>
          <a:xfrm>
            <a:off x="9464040" y="4261104"/>
            <a:ext cx="137160" cy="0"/>
          </a:xfrm>
          <a:prstGeom prst="line">
            <a:avLst/>
          </a:prstGeom>
          <a:noFill/>
          <a:ln w="19050">
            <a:solidFill>
              <a:srgbClr val="C55A11"/>
            </a:solidFill>
            <a:tailEnd type="triangle" w="sm" len="sm"/>
          </a:ln>
        </p:spPr>
      </p:sp>
      <p:sp>
        <p:nvSpPr>
          <p:cNvPr id="42" name="Root child pointer P2"/>
          <p:cNvSpPr/>
          <p:nvPr/>
        </p:nvSpPr>
        <p:spPr>
          <a:xfrm flipH="1">
            <a:off x="10424160" y="3182112"/>
            <a:ext cx="301752" cy="749808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3" name="Child leaf block 3"/>
          <p:cNvSpPr/>
          <p:nvPr/>
        </p:nvSpPr>
        <p:spPr>
          <a:xfrm>
            <a:off x="9601200" y="3931920"/>
            <a:ext cx="1645920" cy="658368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Leaf block 3</a:t>
            </a:r>
            <a:endParaRPr lang="en-US" sz="1200"/>
          </a:p>
          <a:p>
            <a:pPr algn="ctr" marL="0" indent="0">
              <a:buNone/>
            </a:pPr>
            <a:r>
              <a:rPr lang="en-US" sz="1200" b="0">
                <a:solidFill>
                  <a:srgbClr val="000000"/>
                </a:solidFill>
                <a:latin typeface="Calibri"/>
              </a:rPr>
              <a:t>keys 681–1000</a:t>
            </a:r>
            <a:endParaRPr lang="en-US" sz="1200"/>
          </a:p>
        </p:txBody>
      </p:sp>
      <p:sp>
        <p:nvSpPr>
          <p:cNvPr id="44" name="Root key and child count"/>
          <p:cNvSpPr/>
          <p:nvPr/>
        </p:nvSpPr>
        <p:spPr>
          <a:xfrm>
            <a:off x="6035040" y="4846320"/>
            <a:ext cx="521208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2 separator keys and 3 child pointers</a:t>
            </a:r>
            <a:endParaRPr lang="en-US" sz="1400"/>
          </a:p>
        </p:txBody>
      </p:sp>
      <p:sp>
        <p:nvSpPr>
          <p:cNvPr id="45" name="Header versus root explanation"/>
          <p:cNvSpPr/>
          <p:nvPr/>
        </p:nvSpPr>
        <p:spPr>
          <a:xfrm>
            <a:off x="6035040" y="5367528"/>
            <a:ext cx="5212080" cy="59436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l" marL="0" indent="0">
              <a:buNone/>
            </a:pPr>
            <a:r>
              <a:rPr lang="en-US" sz="1300" b="0">
                <a:solidFill>
                  <a:srgbClr val="000000"/>
                </a:solidFill>
                <a:latin typeface="Calibri"/>
              </a:rPr>
              <a:t>The header stores the root’s block number.</a:t>
            </a:r>
            <a:endParaRPr lang="en-US" sz="1300"/>
          </a:p>
          <a:p>
            <a:pPr algn="l" marL="0" indent="0">
              <a:buNone/>
            </a:pPr>
            <a:r>
              <a:rPr lang="en-US" sz="1300" b="0">
                <a:solidFill>
                  <a:srgbClr val="000000"/>
                </a:solidFill>
                <a:latin typeface="Calibri"/>
              </a:rPr>
              <a:t>The root stores keys and pointers to child pages.</a:t>
            </a:r>
            <a:endParaRPr lang="en-US" sz="13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Page Formats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page (index)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1248" y="1901952"/>
            <a:ext cx="82296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66420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30428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94436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K2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58444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224528" y="1901952"/>
            <a:ext cx="457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468172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5321808" y="1901952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Pm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5961888" y="1901952"/>
            <a:ext cx="1554480" cy="502920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child P0</a:t>
            </a:r>
            <a:endParaRPr lang="en-US" sz="1050" dirty="0"/>
          </a:p>
        </p:txBody>
      </p:sp>
      <p:sp>
        <p:nvSpPr>
          <p:cNvPr id="13" name="Text 11"/>
          <p:cNvSpPr txBox="1"/>
          <p:nvPr/>
        </p:nvSpPr>
        <p:spPr>
          <a:xfrm>
            <a:off x="841248" y="254203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 = (4096 − 8) / (keyw + 4)   →   511 separators for int keys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306324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page (data)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41248" y="3410712"/>
            <a:ext cx="82296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1664208" y="3410712"/>
            <a:ext cx="10058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leaf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2670048" y="3410712"/>
            <a:ext cx="9144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1st ovf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3584448" y="3410712"/>
            <a:ext cx="548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k1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133088" y="3410712"/>
            <a:ext cx="105156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184648" y="3410712"/>
            <a:ext cx="548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k2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733288" y="3410712"/>
            <a:ext cx="105156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6784848" y="3410712"/>
            <a:ext cx="457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7242048" y="3410712"/>
            <a:ext cx="173736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rid: page + slot</a:t>
            </a:r>
            <a:endParaRPr lang="en-US" sz="1050" dirty="0"/>
          </a:p>
        </p:txBody>
      </p:sp>
      <p:sp>
        <p:nvSpPr>
          <p:cNvPr id="24" name="Text 22"/>
          <p:cNvSpPr txBox="1"/>
          <p:nvPr/>
        </p:nvSpPr>
        <p:spPr>
          <a:xfrm>
            <a:off x="841248" y="405079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 = (4096 − 12) / (keyw + 8)   →   340 entries for int keys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841248" y="45720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7671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page (data)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41248" y="4919472"/>
            <a:ext cx="82296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1664208" y="4919472"/>
            <a:ext cx="14630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overflow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3127248" y="4919472"/>
            <a:ext cx="548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k1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3675888" y="4919472"/>
            <a:ext cx="105156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4727448" y="4919472"/>
            <a:ext cx="5486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k2</a:t>
            </a:r>
            <a:endParaRPr lang="en-US" sz="1050" dirty="0"/>
          </a:p>
        </p:txBody>
      </p:sp>
      <p:sp>
        <p:nvSpPr>
          <p:cNvPr id="31" name="Text 29"/>
          <p:cNvSpPr/>
          <p:nvPr/>
        </p:nvSpPr>
        <p:spPr>
          <a:xfrm>
            <a:off x="5276088" y="4919472"/>
            <a:ext cx="105156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rid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6327648" y="4919472"/>
            <a:ext cx="4572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841248" y="5559552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capacity = (4096 − 8) / (keyw + 8)   →   340 entries for int keys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841248" y="598932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all counts are u32; keys are exactly codec.width() bytes; rid = (page u32, slot u32)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KeyCodec — One Key Encoding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600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encode(): value → fixed-width bytes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841248" y="2011680"/>
            <a:ext cx="1554480" cy="475488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Integer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2395728" y="2011680"/>
            <a:ext cx="3291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 bytes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41248" y="2578608"/>
            <a:ext cx="1554480" cy="475488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2395728" y="2578608"/>
            <a:ext cx="3291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 bytes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41248" y="3145536"/>
            <a:ext cx="1554480" cy="475488"/>
          </a:xfrm>
          <a:prstGeom prst="rect">
            <a:avLst/>
          </a:prstGeom>
          <a:solidFill>
            <a:srgbClr val="DAE3F3"/>
          </a:solidFill>
          <a:ln w="952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395728" y="3145536"/>
            <a:ext cx="32918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16" tIns="1016" rIns="1016" bIns="1016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declared width, NUL-padded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41248" y="3977640"/>
            <a:ext cx="4846320" cy="457200"/>
          </a:xfrm>
          <a:prstGeom prst="roundRect">
            <a:avLst>
              <a:gd name="adj" fmla="val 16000"/>
            </a:avLst>
          </a:prstGeom>
          <a:solidFill>
            <a:srgbClr val="E2EFDA"/>
          </a:solidFill>
          <a:ln w="9525">
            <a:solidFill>
              <a:srgbClr val="54823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96112" y="4014216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width  ⇒  pages binary-search raw bytes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841248" y="475488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compare() is a total order on the encoded bytes —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numeric for numbers, byte order for strings</a:t>
            </a:r>
            <a:endParaRPr lang="en-US" sz="1250" dirty="0"/>
          </a:p>
          <a:p>
            <a:pPr algn="l" indent="0" marL="0">
              <a:buNone/>
            </a:pPr>
            <a:r>
              <a:rPr lang="en-US" sz="12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(NUL padding makes byte order equal value order)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6172200" y="1828800"/>
            <a:ext cx="516636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hold and compare bytes — only KeyCodec decodes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codec instance is bound to one column’s type and width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Strings wider than the column, or containing NUL, are refused at encode time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decode() turns bytes back into a Column — for callers, never for the pages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1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display() renders a readable key for error messages and verify findings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Bulk Build: the Operation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59536" y="1481328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841248" y="1920240"/>
            <a:ext cx="19202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 every key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2761488" y="2286000"/>
            <a:ext cx="292608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3072384" y="1481328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3054096" y="1920240"/>
            <a:ext cx="19202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 in memory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974336" y="2286000"/>
            <a:ext cx="292608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285232" y="1481328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266944" y="1920240"/>
            <a:ext cx="1920240" cy="731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build_leaves: fill L→R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187184" y="2286000"/>
            <a:ext cx="292608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7498080" y="1481328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479792" y="1920240"/>
            <a:ext cx="1920240" cy="731520"/>
          </a:xfrm>
          <a:prstGeom prst="roundRect">
            <a:avLst>
              <a:gd name="adj" fmla="val 5000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link_leaf_chain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9400032" y="2286000"/>
            <a:ext cx="292608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9710928" y="1481328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9692640" y="1920240"/>
            <a:ext cx="1920240" cy="731520"/>
          </a:xfrm>
          <a:prstGeom prst="roundRect">
            <a:avLst>
              <a:gd name="adj" fmla="val 5000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build_separator_level: recurse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3063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build_leaves fills each leaf; next_leaf stays empty until…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2926080" y="34290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1…340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892040" y="34290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341…680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858000" y="34290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681…1000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617720" y="3675888"/>
            <a:ext cx="27432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6583680" y="3675888"/>
            <a:ext cx="27432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3" name="Text 21"/>
          <p:cNvSpPr txBox="1"/>
          <p:nvPr/>
        </p:nvSpPr>
        <p:spPr>
          <a:xfrm>
            <a:off x="841248" y="4206240"/>
            <a:ext cx="2743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keys 341 and 681 become separators.
P0 names the first child.
The root stores both keys and all three child pointers.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8915400" y="3429000"/>
            <a:ext cx="2423160" cy="9144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970264" y="3465576"/>
            <a:ext cx="2313432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empty build is a valid empty index —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first insert grows its first leaf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8915400" y="4526280"/>
            <a:ext cx="2423160" cy="777240"/>
          </a:xfrm>
          <a:prstGeom prst="roundRect">
            <a:avLst>
              <a:gd name="adj" fmla="val 9412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970264" y="4562856"/>
            <a:ext cx="2313432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sorting happens in memory: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exercise scale it fits</a:t>
            </a:r>
            <a:endParaRPr lang="en-US" sz="11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  <p:sp>
        <p:nvSpPr>
          <p:cNvPr id="34" name="Built root slot 0"/>
          <p:cNvSpPr/>
          <p:nvPr/>
        </p:nvSpPr>
        <p:spPr>
          <a:xfrm>
            <a:off x="3749040" y="4800600"/>
            <a:ext cx="822960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P0=1</a:t>
            </a:r>
            <a:endParaRPr lang="en-US" sz="1400"/>
          </a:p>
        </p:txBody>
      </p:sp>
      <p:sp>
        <p:nvSpPr>
          <p:cNvPr id="35" name="Built root slot 1"/>
          <p:cNvSpPr/>
          <p:nvPr/>
        </p:nvSpPr>
        <p:spPr>
          <a:xfrm>
            <a:off x="4572000" y="4800600"/>
            <a:ext cx="822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341</a:t>
            </a:r>
            <a:endParaRPr lang="en-US" sz="1400"/>
          </a:p>
        </p:txBody>
      </p:sp>
      <p:sp>
        <p:nvSpPr>
          <p:cNvPr id="36" name="Built root slot 2"/>
          <p:cNvSpPr/>
          <p:nvPr/>
        </p:nvSpPr>
        <p:spPr>
          <a:xfrm>
            <a:off x="5394960" y="4800600"/>
            <a:ext cx="822960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P1=2</a:t>
            </a:r>
            <a:endParaRPr lang="en-US" sz="1400"/>
          </a:p>
        </p:txBody>
      </p:sp>
      <p:sp>
        <p:nvSpPr>
          <p:cNvPr id="37" name="Built root slot 3"/>
          <p:cNvSpPr/>
          <p:nvPr/>
        </p:nvSpPr>
        <p:spPr>
          <a:xfrm>
            <a:off x="6217920" y="4800600"/>
            <a:ext cx="822960" cy="502920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681</a:t>
            </a:r>
            <a:endParaRPr lang="en-US" sz="1400"/>
          </a:p>
        </p:txBody>
      </p:sp>
      <p:sp>
        <p:nvSpPr>
          <p:cNvPr id="38" name="Built root slot 4"/>
          <p:cNvSpPr/>
          <p:nvPr/>
        </p:nvSpPr>
        <p:spPr>
          <a:xfrm>
            <a:off x="7040880" y="4800600"/>
            <a:ext cx="822960" cy="502920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P2=3</a:t>
            </a:r>
            <a:endParaRPr lang="en-US" sz="1400"/>
          </a:p>
        </p:txBody>
      </p:sp>
      <p:sp>
        <p:nvSpPr>
          <p:cNvPr id="39" name="Leaf 1 root mapping"/>
          <p:cNvSpPr/>
          <p:nvPr/>
        </p:nvSpPr>
        <p:spPr>
          <a:xfrm>
            <a:off x="3771900" y="3931920"/>
            <a:ext cx="388620" cy="868680"/>
          </a:xfrm>
          <a:prstGeom prst="line">
            <a:avLst/>
          </a:prstGeom>
          <a:noFill/>
          <a:ln w="19050">
            <a:solidFill>
              <a:srgbClr val="2F5597"/>
            </a:solidFill>
            <a:prstDash val="dash"/>
            <a:tailEnd type="triangle" w="sm" len="sm"/>
          </a:ln>
        </p:spPr>
      </p:sp>
      <p:sp>
        <p:nvSpPr>
          <p:cNvPr id="40" name="Leaf 2 root mapping"/>
          <p:cNvSpPr/>
          <p:nvPr/>
        </p:nvSpPr>
        <p:spPr>
          <a:xfrm>
            <a:off x="5737860" y="3931920"/>
            <a:ext cx="68580" cy="868680"/>
          </a:xfrm>
          <a:prstGeom prst="line">
            <a:avLst/>
          </a:prstGeom>
          <a:noFill/>
          <a:ln w="19050">
            <a:solidFill>
              <a:srgbClr val="2F5597"/>
            </a:solidFill>
            <a:prstDash val="dash"/>
            <a:tailEnd type="triangle" w="sm" len="sm"/>
          </a:ln>
        </p:spPr>
      </p:sp>
      <p:sp>
        <p:nvSpPr>
          <p:cNvPr id="41" name="Leaf 3 root mapping"/>
          <p:cNvSpPr/>
          <p:nvPr/>
        </p:nvSpPr>
        <p:spPr>
          <a:xfrm flipH="1">
            <a:off x="7452360" y="3931920"/>
            <a:ext cx="251460" cy="868680"/>
          </a:xfrm>
          <a:prstGeom prst="line">
            <a:avLst/>
          </a:prstGeom>
          <a:noFill/>
          <a:ln w="19050">
            <a:solidFill>
              <a:srgbClr val="2F5597"/>
            </a:solidFill>
            <a:prstDash val="dash"/>
            <a:tailEnd type="triangle" w="sm" len="sm"/>
          </a:ln>
        </p:spPr>
      </p:sp>
      <p:sp>
        <p:nvSpPr>
          <p:cNvPr id="42" name="Built root heading"/>
          <p:cNvSpPr/>
          <p:nvPr/>
        </p:nvSpPr>
        <p:spPr>
          <a:xfrm>
            <a:off x="3474720" y="5541264"/>
            <a:ext cx="4663440" cy="365760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Root block 4: 2 keys and 3 child pointers</a:t>
            </a:r>
            <a:endParaRPr lang="en-US" sz="14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Bulk Build: the Index Layout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file, block by block</a:t>
            </a:r>
            <a:endParaRPr lang="en-US" sz="1350" dirty="0"/>
          </a:p>
        </p:txBody>
      </p:sp>
      <p:sp>
        <p:nvSpPr>
          <p:cNvPr id="4" name="d0"/>
          <p:cNvSpPr/>
          <p:nvPr/>
        </p:nvSpPr>
        <p:spPr>
          <a:xfrm>
            <a:off x="841248" y="1920240"/>
            <a:ext cx="4572000" cy="585216"/>
          </a:xfrm>
          <a:prstGeom prst="rect">
            <a:avLst>
              <a:gd name="adj" fmla="val 7813"/>
            </a:avLst>
          </a:prstGeom>
          <a:solidFill>
            <a:srgbClr val="F2F2F2"/>
          </a:solidFill>
          <a:ln w="13970">
            <a:solidFill>
              <a:srgbClr val="76717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87552" y="1975104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0 · header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87552" y="2231136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root=4 · first leaf=1 · levels=2 · entries=1000</a:t>
            </a:r>
            <a:endParaRPr lang="en-US" sz="1050" dirty="0"/>
          </a:p>
        </p:txBody>
      </p:sp>
      <p:sp>
        <p:nvSpPr>
          <p:cNvPr id="7" name="d1"/>
          <p:cNvSpPr/>
          <p:nvPr/>
        </p:nvSpPr>
        <p:spPr>
          <a:xfrm>
            <a:off x="841248" y="2633472"/>
            <a:ext cx="4572000" cy="585216"/>
          </a:xfrm>
          <a:prstGeom prst="rect">
            <a:avLst>
              <a:gd name="adj" fmla="val 7813"/>
            </a:avLst>
          </a:prstGeom>
          <a:solidFill>
            <a:srgbClr val="FBE5D6"/>
          </a:solidFill>
          <a:ln w="13970">
            <a:solidFill>
              <a:srgbClr val="C55A1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87552" y="2688336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1 · leaf</a:t>
            </a:r>
            <a:endParaRPr lang="en-US" sz="1150" dirty="0"/>
          </a:p>
        </p:txBody>
      </p:sp>
      <p:sp>
        <p:nvSpPr>
          <p:cNvPr id="9" name="Text 7"/>
          <p:cNvSpPr txBox="1"/>
          <p:nvPr/>
        </p:nvSpPr>
        <p:spPr>
          <a:xfrm>
            <a:off x="987552" y="2944368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 1…340 · next → 2</a:t>
            </a:r>
            <a:endParaRPr lang="en-US" sz="1050" dirty="0"/>
          </a:p>
        </p:txBody>
      </p:sp>
      <p:sp>
        <p:nvSpPr>
          <p:cNvPr id="10" name="d2"/>
          <p:cNvSpPr/>
          <p:nvPr/>
        </p:nvSpPr>
        <p:spPr>
          <a:xfrm>
            <a:off x="841248" y="3346704"/>
            <a:ext cx="4572000" cy="585216"/>
          </a:xfrm>
          <a:prstGeom prst="rect">
            <a:avLst>
              <a:gd name="adj" fmla="val 7813"/>
            </a:avLst>
          </a:prstGeom>
          <a:solidFill>
            <a:srgbClr val="FBE5D6"/>
          </a:solidFill>
          <a:ln w="13970">
            <a:solidFill>
              <a:srgbClr val="C55A1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401568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2 · leaf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987552" y="3657600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 341…680 · next → 3</a:t>
            </a:r>
            <a:endParaRPr lang="en-US" sz="1050" dirty="0"/>
          </a:p>
        </p:txBody>
      </p:sp>
      <p:sp>
        <p:nvSpPr>
          <p:cNvPr id="13" name="d3"/>
          <p:cNvSpPr/>
          <p:nvPr/>
        </p:nvSpPr>
        <p:spPr>
          <a:xfrm>
            <a:off x="841248" y="4059936"/>
            <a:ext cx="4572000" cy="585216"/>
          </a:xfrm>
          <a:prstGeom prst="rect">
            <a:avLst>
              <a:gd name="adj" fmla="val 7813"/>
            </a:avLst>
          </a:prstGeom>
          <a:solidFill>
            <a:srgbClr val="FBE5D6"/>
          </a:solidFill>
          <a:ln w="13970">
            <a:solidFill>
              <a:srgbClr val="C55A1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87552" y="411480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3 · leaf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987552" y="4370832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keys 681…1000 · next → ∅</a:t>
            </a:r>
            <a:endParaRPr lang="en-US" sz="1050" dirty="0"/>
          </a:p>
        </p:txBody>
      </p:sp>
      <p:sp>
        <p:nvSpPr>
          <p:cNvPr id="16" name="d4"/>
          <p:cNvSpPr/>
          <p:nvPr/>
        </p:nvSpPr>
        <p:spPr>
          <a:xfrm>
            <a:off x="841248" y="4773168"/>
            <a:ext cx="4572000" cy="585216"/>
          </a:xfrm>
          <a:prstGeom prst="rect">
            <a:avLst>
              <a:gd name="adj" fmla="val 7813"/>
            </a:avLst>
          </a:prstGeom>
          <a:solidFill>
            <a:srgbClr val="DAE3F3"/>
          </a:solidFill>
          <a:ln w="13970">
            <a:solidFill>
              <a:srgbClr val="2F5597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87552" y="4828032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4 · separator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87552" y="5084064"/>
            <a:ext cx="42976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 → 2 · 681 → 3 · first child 1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6263640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…as the tree sees it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6172200" y="3520440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1…340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955280" y="3520440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341…680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738360" y="3520440"/>
            <a:ext cx="155448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681…1000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7726680" y="3767328"/>
            <a:ext cx="22860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31" name="Shape 29"/>
          <p:cNvSpPr/>
          <p:nvPr/>
        </p:nvSpPr>
        <p:spPr>
          <a:xfrm>
            <a:off x="9509760" y="3767328"/>
            <a:ext cx="22860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32" name="Text 30"/>
          <p:cNvSpPr txBox="1"/>
          <p:nvPr/>
        </p:nvSpPr>
        <p:spPr>
          <a:xfrm>
            <a:off x="6949440" y="4160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chain — walked forward only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841248" y="5468112"/>
            <a:ext cx="10497312" cy="658368"/>
          </a:xfrm>
          <a:prstGeom prst="roundRect">
            <a:avLst>
              <a:gd name="adj" fmla="val 6944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34" name="Text 32"/>
          <p:cNvSpPr txBox="1"/>
          <p:nvPr/>
        </p:nvSpPr>
        <p:spPr>
          <a:xfrm>
            <a:off x="1005840" y="5513832"/>
            <a:ext cx="10149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1000 int keys at 340 per leaf → 3 leaves (blocks 1–3); their first keys 341 and 681 rise into the separator (block 4), which is the root.  </a:t>
            </a:r>
            <a:pPr indent="0" marL="0">
              <a:buNone/>
            </a:pPr>
            <a:r>
              <a:rPr lang="en-US" sz="12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levels = 2; pages are allocated densely: last block in the header = 4.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  <p:sp>
        <p:nvSpPr>
          <p:cNvPr id="35" name="Root page label"/>
          <p:cNvSpPr/>
          <p:nvPr/>
        </p:nvSpPr>
        <p:spPr>
          <a:xfrm>
            <a:off x="6492240" y="1883664"/>
            <a:ext cx="411480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Root separator, block 4</a:t>
            </a:r>
            <a:endParaRPr lang="en-US" sz="1400"/>
          </a:p>
        </p:txBody>
      </p:sp>
      <p:sp>
        <p:nvSpPr>
          <p:cNvPr id="36" name="Root layout slot 0"/>
          <p:cNvSpPr/>
          <p:nvPr/>
        </p:nvSpPr>
        <p:spPr>
          <a:xfrm>
            <a:off x="6492240" y="2267712"/>
            <a:ext cx="822960" cy="53035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P0=1</a:t>
            </a:r>
            <a:endParaRPr lang="en-US" sz="1400"/>
          </a:p>
        </p:txBody>
      </p:sp>
      <p:sp>
        <p:nvSpPr>
          <p:cNvPr id="37" name="Root layout slot 1"/>
          <p:cNvSpPr/>
          <p:nvPr/>
        </p:nvSpPr>
        <p:spPr>
          <a:xfrm>
            <a:off x="7315200" y="2267712"/>
            <a:ext cx="822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341</a:t>
            </a:r>
            <a:endParaRPr lang="en-US" sz="1400"/>
          </a:p>
        </p:txBody>
      </p:sp>
      <p:sp>
        <p:nvSpPr>
          <p:cNvPr id="38" name="Root layout slot 2"/>
          <p:cNvSpPr/>
          <p:nvPr/>
        </p:nvSpPr>
        <p:spPr>
          <a:xfrm>
            <a:off x="8138160" y="2267712"/>
            <a:ext cx="822960" cy="53035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P1=2</a:t>
            </a:r>
            <a:endParaRPr lang="en-US" sz="1400"/>
          </a:p>
        </p:txBody>
      </p:sp>
      <p:sp>
        <p:nvSpPr>
          <p:cNvPr id="39" name="Root layout slot 3"/>
          <p:cNvSpPr/>
          <p:nvPr/>
        </p:nvSpPr>
        <p:spPr>
          <a:xfrm>
            <a:off x="8961120" y="2267712"/>
            <a:ext cx="822960" cy="530352"/>
          </a:xfrm>
          <a:prstGeom prst="rect">
            <a:avLst/>
          </a:prstGeom>
          <a:solidFill>
            <a:srgbClr val="FFFFFF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681</a:t>
            </a:r>
            <a:endParaRPr lang="en-US" sz="1400"/>
          </a:p>
        </p:txBody>
      </p:sp>
      <p:sp>
        <p:nvSpPr>
          <p:cNvPr id="40" name="Root layout slot 4"/>
          <p:cNvSpPr/>
          <p:nvPr/>
        </p:nvSpPr>
        <p:spPr>
          <a:xfrm>
            <a:off x="9784080" y="2267712"/>
            <a:ext cx="822960" cy="530352"/>
          </a:xfrm>
          <a:prstGeom prst="rect">
            <a:avLst/>
          </a:prstGeom>
          <a:solidFill>
            <a:srgbClr val="DAE3F3"/>
          </a:solidFill>
          <a:ln w="12700">
            <a:solidFill>
              <a:srgbClr val="2F5597"/>
            </a:solidFill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1">
                <a:solidFill>
                  <a:srgbClr val="2F5597"/>
                </a:solidFill>
                <a:latin typeface="Calibri"/>
              </a:rPr>
              <a:t>P2=3</a:t>
            </a:r>
            <a:endParaRPr lang="en-US" sz="1400"/>
          </a:p>
        </p:txBody>
      </p:sp>
      <p:sp>
        <p:nvSpPr>
          <p:cNvPr id="41" name="Root child block 1"/>
          <p:cNvSpPr/>
          <p:nvPr/>
        </p:nvSpPr>
        <p:spPr>
          <a:xfrm>
            <a:off x="6903720" y="2798064"/>
            <a:ext cx="45720" cy="72237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2" name="Root child block 2"/>
          <p:cNvSpPr/>
          <p:nvPr/>
        </p:nvSpPr>
        <p:spPr>
          <a:xfrm>
            <a:off x="8549640" y="2798064"/>
            <a:ext cx="182880" cy="72237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3" name="Root child block 3"/>
          <p:cNvSpPr/>
          <p:nvPr/>
        </p:nvSpPr>
        <p:spPr>
          <a:xfrm>
            <a:off x="10195560" y="2798064"/>
            <a:ext cx="320040" cy="722376"/>
          </a:xfrm>
          <a:prstGeom prst="line">
            <a:avLst/>
          </a:prstGeom>
          <a:noFill/>
          <a:ln w="19050">
            <a:solidFill>
              <a:srgbClr val="2F5597"/>
            </a:solidFill>
            <a:tailEnd type="triangle" w="sm" len="sm"/>
          </a:ln>
        </p:spPr>
      </p:sp>
      <p:sp>
        <p:nvSpPr>
          <p:cNvPr id="44" name="Root key and pointer count"/>
          <p:cNvSpPr/>
          <p:nvPr/>
        </p:nvSpPr>
        <p:spPr>
          <a:xfrm>
            <a:off x="6263640" y="4590288"/>
            <a:ext cx="5074920" cy="292608"/>
          </a:xfrm>
          <a:prstGeom prst="rect">
            <a:avLst/>
          </a:prstGeom>
          <a:noFill/>
          <a:ln w="12700">
            <a:noFill/>
          </a:ln>
        </p:spPr>
        <p:txBody>
          <a:bodyPr wrap="square" lIns="18288" rIns="18288" tIns="9144" bIns="9144" anchor="ctr"/>
          <a:lstStyle/>
          <a:p>
            <a:pPr algn="ctr" marL="0" indent="0">
              <a:buNone/>
            </a:pPr>
            <a:r>
              <a:rPr lang="en-US" sz="1400" b="0">
                <a:solidFill>
                  <a:srgbClr val="2F5597"/>
                </a:solidFill>
                <a:latin typeface="Calibri"/>
              </a:rPr>
              <a:t>2 separator keys and 3 child pointers</a:t>
            </a:r>
            <a:endParaRPr lang="en-US" sz="14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Bulk Build: the Code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build() — four named phases, one close (D5, D8)</a:t>
            </a:r>
            <a:endParaRPr lang="en-US" sz="1400" dirty="0"/>
          </a:p>
        </p:txBody>
      </p:sp>
      <p:sp>
        <p:nvSpPr>
          <p:cNvPr id="4" name="codeL"/>
          <p:cNvSpPr/>
          <p:nvPr/>
        </p:nvSpPr>
        <p:spPr>
          <a:xfrm>
            <a:off x="841248" y="1783080"/>
            <a:ext cx="521208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codeL_code"/>
          <p:cNvSpPr txBox="1"/>
          <p:nvPr/>
        </p:nvSpPr>
        <p:spPr>
          <a:xfrm>
            <a:off x="960120" y="1874520"/>
            <a:ext cx="497433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IsamIndex::build(const std::string&amp; path,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std::vector&lt;std::pair&lt;Column, Rid&gt;&gt;&amp; entries,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(!create(path, error))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the close-on-failure dance lives here, once (D8)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std::vector&lt;DataEntry&gt; sorted;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std::vector&lt;FirstKey&gt; leaves;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bool ok = encode_and_sort(entries, sorted, error) &amp;&amp;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build_leaves(sorted, leaves, error) &amp;&amp;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link_leaf_chain(leaves, 0, error) &amp;&amp;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build_separator_level(std::move(leaves),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(ok)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entry_count_ = sorted.size();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ok = write_header(error);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(!ok)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 close_error;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close(close_error);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…the recursive levels and the chain link (D5)</a:t>
            </a:r>
            <a:endParaRPr lang="en-US" sz="1400" dirty="0"/>
          </a:p>
        </p:txBody>
      </p:sp>
      <p:sp>
        <p:nvSpPr>
          <p:cNvPr id="7" name="codeR"/>
          <p:cNvSpPr/>
          <p:nvPr/>
        </p:nvSpPr>
        <p:spPr>
          <a:xfrm>
            <a:off x="6309360" y="1783080"/>
            <a:ext cx="502920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codeR_code"/>
          <p:cNvSpPr txBox="1"/>
          <p:nvPr/>
        </p:nvSpPr>
        <p:spPr>
          <a:xfrm>
            <a:off x="6428232" y="1874520"/>
            <a:ext cx="479145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separator level from the pages below, then recurse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IsamIndex::build_separator_level(level,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(level.size() &lt;= 1) {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page: the root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level.empty() ? kNoPage : level[0].block;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++levels_;   std::vector&lt;FirstKey&gt; next_level;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(chunks of separator_capacity())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alloc_next_block(block,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SeparatorPage page;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page.bind(manager_.frame(frame).buffer,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page.format();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for (i = start + 1; i &lt; end; ++i)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K/P pair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page.append({level[i].key, level[i].block},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page.set_first_child(level[start].block);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next_level.push_back({level[start].key, block});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build_separator_level(std::move(next_level),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leaf chain, linked forward one leaf per frame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IsamIndex::link_leaf_chain(level, index,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(index + 1 &gt;= level.size())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pin_leaf(level[index].block, leaf,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leaf.set_next_leaf(level[index + 1].block);  release(…);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link_leaf_chain(level, index + 1,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Lookup: the Operation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41248" y="1645920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1298448" y="1609344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descend: at each separator, take the child after the last key strictly below the search key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841248" y="2834640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298448" y="279806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the leaf: binary-search lower_bound, collect every equal key — plus each overflow page’s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841248" y="4343400"/>
            <a:ext cx="310896" cy="310896"/>
          </a:xfrm>
          <a:prstGeom prst="ellipse">
            <a:avLst/>
          </a:prstGeom>
          <a:solidFill>
            <a:srgbClr val="2F5597"/>
          </a:solidFill>
          <a:ln>
            <a:solidFill>
              <a:srgbClr val="2F5597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298448" y="4306824"/>
            <a:ext cx="3566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continue into the next leaf while its first key is ≤ the target: duplicates can span leaves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9646920" y="1783080"/>
            <a:ext cx="1691640" cy="457200"/>
          </a:xfrm>
          <a:prstGeom prst="roundRect">
            <a:avLst>
              <a:gd name="adj" fmla="val 16000"/>
            </a:avLst>
          </a:prstGeom>
          <a:solidFill>
            <a:srgbClr val="E2EFDA"/>
          </a:solidFill>
          <a:ln w="9525">
            <a:solidFill>
              <a:srgbClr val="548235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701784" y="1819656"/>
            <a:ext cx="1581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search: 500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583680" y="2377440"/>
            <a:ext cx="548640" cy="502920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P0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7132320" y="2377440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7772400" y="2377440"/>
            <a:ext cx="548640" cy="502920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8321040" y="2377440"/>
            <a:ext cx="6400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681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8961120" y="2377440"/>
            <a:ext cx="548640" cy="502920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P2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40680" y="3703320"/>
            <a:ext cx="173736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1…340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7498080" y="3703320"/>
            <a:ext cx="1737360" cy="502920"/>
          </a:xfrm>
          <a:prstGeom prst="roundRect">
            <a:avLst>
              <a:gd name="adj" fmla="val 7273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341…680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9555480" y="3703320"/>
            <a:ext cx="173736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681…1000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 flipH="1">
            <a:off x="6309360" y="2880360"/>
            <a:ext cx="548640" cy="82296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178040" y="2880360"/>
            <a:ext cx="1143000" cy="822960"/>
          </a:xfrm>
          <a:prstGeom prst="line">
            <a:avLst/>
          </a:prstGeom>
          <a:noFill/>
          <a:ln w="3810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7635240" y="2880360"/>
            <a:ext cx="2697480" cy="82296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22" name="Shape 20"/>
          <p:cNvSpPr/>
          <p:nvPr/>
        </p:nvSpPr>
        <p:spPr>
          <a:xfrm>
            <a:off x="7178040" y="3950208"/>
            <a:ext cx="320040" cy="0"/>
          </a:xfrm>
          <a:prstGeom prst="line">
            <a:avLst/>
          </a:prstGeom>
          <a:noFill/>
          <a:ln w="1587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9235440" y="3950208"/>
            <a:ext cx="320040" cy="0"/>
          </a:xfrm>
          <a:prstGeom prst="line">
            <a:avLst/>
          </a:prstGeom>
          <a:noFill/>
          <a:ln w="1587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7498080" y="4434840"/>
            <a:ext cx="2011680" cy="457200"/>
          </a:xfrm>
          <a:prstGeom prst="roundRect">
            <a:avLst>
              <a:gd name="adj" fmla="val 16000"/>
            </a:avLst>
          </a:prstGeom>
          <a:solidFill>
            <a:srgbClr val="E2EFDA"/>
          </a:solidFill>
          <a:ln w="9525">
            <a:solidFill>
              <a:srgbClr val="54823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7552944" y="4471416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500 found → rid (2, 17)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440680" y="5120640"/>
            <a:ext cx="5852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separator’s K/P pairs route the descent;</a:t>
            </a:r>
            <a:endParaRPr lang="en-US" sz="1200" dirty="0"/>
          </a:p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leaf chain carries the walker forward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Lookup: the Index Layout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55448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 page (int keys)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41248" y="1901952"/>
            <a:ext cx="100584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2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1847088" y="1901952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2532888" y="1901952"/>
            <a:ext cx="777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L2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3310128" y="1901952"/>
            <a:ext cx="68580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3995928" y="1901952"/>
            <a:ext cx="7772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→ L3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773168" y="1901952"/>
            <a:ext cx="1691640" cy="502920"/>
          </a:xfrm>
          <a:prstGeom prst="rect">
            <a:avLst/>
          </a:prstGeom>
          <a:solidFill>
            <a:srgbClr val="DAE3F3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 child → L1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841248" y="252374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sep[i] is the first key of the child it routes to — the page stores (sep[i], child[i+1]) pairs plus its first child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28803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page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841248" y="3227832"/>
            <a:ext cx="1143000" cy="50292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340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984248" y="3227832"/>
            <a:ext cx="100584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 → L3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990088" y="3227832"/>
            <a:ext cx="868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ovf → ∅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3858768" y="3227832"/>
            <a:ext cx="118872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341|(1,0)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047488" y="3227832"/>
            <a:ext cx="118872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341|(0,9)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6236208" y="3227832"/>
            <a:ext cx="4114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6647688" y="3227832"/>
            <a:ext cx="1188720" cy="502920"/>
          </a:xfrm>
          <a:prstGeom prst="rect">
            <a:avLst/>
          </a:prstGeom>
          <a:solidFill>
            <a:srgbClr val="FBE5D6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680|(4,2)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841248" y="3849624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sorted (key, rid) entries; the two 341s show duplicates sitting side by side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41248" y="4343400"/>
            <a:ext cx="10497312" cy="1691640"/>
          </a:xfrm>
          <a:prstGeom prst="roundRect">
            <a:avLst>
              <a:gd name="adj" fmla="val 2703"/>
            </a:avLst>
          </a:prstGeom>
          <a:solidFill>
            <a:srgbClr val="DAE3F3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051560" y="4526280"/>
            <a:ext cx="10058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Descent: the child after the last separator STRICTLY less than the key — the leftmost leaf that may hold it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Strictness matters: equal keys can lag one leaf behind their separator, so a ≤ rule would overshoot the leftmost duplicates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walk forward: lookup continues into the next leaf while its first key is ≤ the target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Lookup: the Code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descend() → descend_from() — recursion (D2)</a:t>
            </a:r>
            <a:endParaRPr lang="en-US" sz="1400" dirty="0"/>
          </a:p>
        </p:txBody>
      </p:sp>
      <p:sp>
        <p:nvSpPr>
          <p:cNvPr id="4" name="codeL"/>
          <p:cNvSpPr/>
          <p:nvPr/>
        </p:nvSpPr>
        <p:spPr>
          <a:xfrm>
            <a:off x="841248" y="1783080"/>
            <a:ext cx="521208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codeL_code"/>
          <p:cNvSpPr txBox="1"/>
          <p:nvPr/>
        </p:nvSpPr>
        <p:spPr>
          <a:xfrm>
            <a:off x="960120" y="1874520"/>
            <a:ext cx="497433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std::uint32_t IsamIndex::descend(const char* key_bytes,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== kNoPage)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kNoPage;      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empty index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levels_ - 1 separator pages to cross, then a leaf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descend_from(root_, levels_ - 1, key_bytes,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pin one separator, take its child, recurse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std::uint32_t IsamIndex::descend_from(std::uint32_t block,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std::uint32_t levels_remaining,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char* key_bytes,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(levels_remaining == 0)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block;        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landing leaf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std::size_t frame = 0;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SeparatorPage page;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(!pin_separator(block, page, frame, error))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kNoPage;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std::uint32_t child =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page.descend_step(key_bytes, codec_);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frame, false);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descend_from(child, levels_remaining - 1,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key_bytes,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lookup() and its leaf-chain walker (D3, D4)</a:t>
            </a:r>
            <a:endParaRPr lang="en-US" sz="1400" dirty="0"/>
          </a:p>
        </p:txBody>
      </p:sp>
      <p:sp>
        <p:nvSpPr>
          <p:cNvPr id="7" name="codeR"/>
          <p:cNvSpPr/>
          <p:nvPr/>
        </p:nvSpPr>
        <p:spPr>
          <a:xfrm>
            <a:off x="6309360" y="1783080"/>
            <a:ext cx="502920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codeR_code"/>
          <p:cNvSpPr txBox="1"/>
          <p:nvPr/>
        </p:nvSpPr>
        <p:spPr>
          <a:xfrm>
            <a:off x="6428232" y="1874520"/>
            <a:ext cx="479145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IsamIndex::lookup(const Column&amp; key,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std::vector&lt;Rid&gt;&amp; out,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key_bytes(codec_.width(), '\0');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codec_.encode(key, key_bytes.data(),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std::uint32_t landing =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descend(key_bytes.data(),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scan_leaf_chain(landing, key_bytes, out,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leaf chain: scan, overflow, then the step-guard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IsamIndex::scan_leaf_chain(block, key, out,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(block == kNoPage) return true;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chain ended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LeafPage leaf;  pin_leaf(block, leaf,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collect_equals(leaf, codec_, key, out);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shared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next_leaf = leaf.next_leaf();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ovf = leaf.first_overflow();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frame, false);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(!scan_overflow_chain(ovf, key, out, error))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continue while the next leaf still reaches the key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 pin the next leaf; may_continue = first ≤ target …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(!may_continue)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scan_leaf_chain(next_leaf, key, out,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Range Scan: the Operation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8503920" y="1600200"/>
            <a:ext cx="2834640" cy="457200"/>
          </a:xfrm>
          <a:prstGeom prst="roundRect">
            <a:avLst>
              <a:gd name="adj" fmla="val 16000"/>
            </a:avLst>
          </a:prstGeom>
          <a:solidFill>
            <a:srgbClr val="E2EFDA"/>
          </a:solidFill>
          <a:ln w="9525">
            <a:solidFill>
              <a:srgbClr val="548235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558784" y="1636776"/>
            <a:ext cx="27249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WHERE pid &gt; 400 AND pid &lt; 750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4434840" y="1518920"/>
            <a:ext cx="3493776" cy="511810"/>
          </a:xfrm>
          <a:prstGeom prst="roundRect">
            <a:avLst>
              <a:gd name="adj" fmla="val 8889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separator</a:t>
            </a:r>
            <a:endParaRPr lang="en-US" sz="105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P0 | 341 | P1 | 681 | P2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840480" y="27432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1…340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806440" y="27432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341…680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7772400" y="2743200"/>
            <a:ext cx="1691640" cy="502920"/>
          </a:xfrm>
          <a:prstGeom prst="roundRect">
            <a:avLst>
              <a:gd name="adj" fmla="val 7273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681…1000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 flipH="1">
            <a:off x="4846320" y="2057400"/>
            <a:ext cx="1417320" cy="68580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0" name="Shape 8"/>
          <p:cNvSpPr/>
          <p:nvPr/>
        </p:nvSpPr>
        <p:spPr>
          <a:xfrm>
            <a:off x="6492240" y="2057400"/>
            <a:ext cx="91440" cy="685800"/>
          </a:xfrm>
          <a:prstGeom prst="line">
            <a:avLst/>
          </a:prstGeom>
          <a:noFill/>
          <a:ln w="317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720840" y="2057400"/>
            <a:ext cx="1783080" cy="685800"/>
          </a:xfrm>
          <a:prstGeom prst="line">
            <a:avLst/>
          </a:prstGeom>
          <a:noFill/>
          <a:ln w="19050">
            <a:solidFill>
              <a:srgbClr val="2F5597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5532120" y="2990088"/>
            <a:ext cx="274320" cy="0"/>
          </a:xfrm>
          <a:prstGeom prst="line">
            <a:avLst/>
          </a:prstGeom>
          <a:noFill/>
          <a:ln w="1587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7498080" y="2990088"/>
            <a:ext cx="274320" cy="0"/>
          </a:xfrm>
          <a:prstGeom prst="line">
            <a:avLst/>
          </a:prstGeom>
          <a:noFill/>
          <a:ln w="1587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3840480" y="35204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emit: L2’s tail above 400, then L3’s head below 750 — overflow chains merged in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41248" y="4297680"/>
            <a:ext cx="3291840" cy="822960"/>
          </a:xfrm>
          <a:prstGeom prst="roundRect">
            <a:avLst>
              <a:gd name="adj" fmla="val 4444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start: descend on the lower bound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lo → the first leaf)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453128" y="4297680"/>
            <a:ext cx="32918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emit every entry inside the bounds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(duplicates stay adjacent)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065008" y="4297680"/>
            <a:ext cx="32918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when the next leaf starts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beyond the upper bound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33088" y="4709160"/>
            <a:ext cx="320040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7744968" y="4709160"/>
            <a:ext cx="320040" cy="0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Text 18"/>
          <p:cNvSpPr txBox="1"/>
          <p:nvPr/>
        </p:nvSpPr>
        <p:spPr>
          <a:xfrm>
            <a:off x="841248" y="5532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walk is the leaf chain plus each leaf’s overflow chain — the separators are never touched again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Range Scan: the Index Layout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41248" y="1828800"/>
            <a:ext cx="2286000" cy="640080"/>
          </a:xfrm>
          <a:prstGeom prst="roundRect">
            <a:avLst>
              <a:gd name="adj" fmla="val 5714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 · 1…340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3584448" y="1828800"/>
            <a:ext cx="2286000" cy="640080"/>
          </a:xfrm>
          <a:prstGeom prst="roundRect">
            <a:avLst>
              <a:gd name="adj" fmla="val 5714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· 341…680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6327648" y="1828800"/>
            <a:ext cx="2286000" cy="640080"/>
          </a:xfrm>
          <a:prstGeom prst="roundRect">
            <a:avLst>
              <a:gd name="adj" fmla="val 5714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 · 681…1000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9070848" y="1828800"/>
            <a:ext cx="2286000" cy="640080"/>
          </a:xfrm>
          <a:prstGeom prst="roundRect">
            <a:avLst>
              <a:gd name="adj" fmla="val 5714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L4 · 1001…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127248" y="2148840"/>
            <a:ext cx="457200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5870448" y="2148840"/>
            <a:ext cx="457200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8613648" y="2148840"/>
            <a:ext cx="457200" cy="0"/>
          </a:xfrm>
          <a:prstGeom prst="line">
            <a:avLst/>
          </a:prstGeom>
          <a:noFill/>
          <a:ln w="22225">
            <a:solidFill>
              <a:srgbClr val="C55A11"/>
            </a:solidFill>
            <a:prstDash val="dash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3639312" y="150876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scan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813048" y="283464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18888" y="283464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 flipH="1">
            <a:off x="4297680" y="2468880"/>
            <a:ext cx="429768" cy="365760"/>
          </a:xfrm>
          <a:prstGeom prst="line">
            <a:avLst/>
          </a:prstGeom>
          <a:noFill/>
          <a:ln w="1905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4636008" y="3035808"/>
            <a:ext cx="182880" cy="0"/>
          </a:xfrm>
          <a:prstGeom prst="line">
            <a:avLst/>
          </a:prstGeom>
          <a:noFill/>
          <a:ln w="15875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6556248" y="2834640"/>
            <a:ext cx="822960" cy="411480"/>
          </a:xfrm>
          <a:prstGeom prst="roundRect">
            <a:avLst>
              <a:gd name="adj" fmla="val 8889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flipH="1">
            <a:off x="7040880" y="2468880"/>
            <a:ext cx="429768" cy="365760"/>
          </a:xfrm>
          <a:prstGeom prst="line">
            <a:avLst/>
          </a:prstGeom>
          <a:noFill/>
          <a:ln w="1905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3977640" y="342900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overflow page is one sorted run of the leaf’s spill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41248" y="4069080"/>
            <a:ext cx="10497312" cy="1965960"/>
          </a:xfrm>
          <a:prstGeom prst="roundRect">
            <a:avLst>
              <a:gd name="adj" fmla="val 2326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051560" y="4251960"/>
            <a:ext cx="1005840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visited leaf is merged with its overflow chain, stable-sorted, then filtered by the bounds — a merge of sorted runs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Emission stays in key order: duplicates adjacent, rids straight from the entries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Bounds are optional: no lower bound starts at the first leaf; no upper bound walks to the end of the chain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walk stops at the first leaf whose first key is beyond hi — ranges never scan the whole chain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Range Scan: the Code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range() — bounds, start, walk (D3)</a:t>
            </a:r>
            <a:endParaRPr lang="en-US" sz="1400" dirty="0"/>
          </a:p>
        </p:txBody>
      </p:sp>
      <p:sp>
        <p:nvSpPr>
          <p:cNvPr id="4" name="codeL"/>
          <p:cNvSpPr/>
          <p:nvPr/>
        </p:nvSpPr>
        <p:spPr>
          <a:xfrm>
            <a:off x="841248" y="1783080"/>
            <a:ext cx="521208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codeL_code"/>
          <p:cNvSpPr txBox="1"/>
          <p:nvPr/>
        </p:nvSpPr>
        <p:spPr>
          <a:xfrm>
            <a:off x="960120" y="1874520"/>
            <a:ext cx="497433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IsamIndex::range(const std::optional&lt;RangeBound&gt;&amp; lo,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std::optional&lt;RangeBound&gt;&amp; hi,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std::vector&lt;Rid&gt;&amp; out,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(first_leaf_ == kNoPage) return true;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empty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lo_bytes, hi_bytes;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encode once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(lo) codec_.encode(lo-&gt;value,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(hi) codec_.encode(hi-&gt;value,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RangeWalk walk;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walk context: bounds + out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walk.lo_bytes = lo ? &amp;lo_bytes : nullptr;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walk.lo_inclusive = lo &amp;&amp; lo-&gt;inclusive;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walk.hi_bytes = hi ? &amp;hi_bytes : nullptr;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walk.hi_inclusive = hi &amp;&amp; hi-&gt;inclusive;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walk.out = &amp;out;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std::uint32_t current = first_leaf_;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(lo) current = descend(lo_bytes.data(),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scan_leaf_range(current, walk,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per-leaf step and the walk (D3)</a:t>
            </a:r>
            <a:endParaRPr lang="en-US" sz="1400" dirty="0"/>
          </a:p>
        </p:txBody>
      </p:sp>
      <p:sp>
        <p:nvSpPr>
          <p:cNvPr id="7" name="codeR"/>
          <p:cNvSpPr/>
          <p:nvPr/>
        </p:nvSpPr>
        <p:spPr>
          <a:xfrm>
            <a:off x="6309360" y="1783080"/>
            <a:ext cx="502920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codeR_code"/>
          <p:cNvSpPr txBox="1"/>
          <p:nvPr/>
        </p:nvSpPr>
        <p:spPr>
          <a:xfrm>
            <a:off x="6428232" y="1874520"/>
            <a:ext cx="479145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leaf: merge with its overflow runs, sort, filter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IsamIndex::emit_leaf_range(block, walk, next, err)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pin_leaf(block, leaf,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std::vector&lt;DataEntry&gt; merged;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leaf entries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(i = 0; i &lt; leaf.count(); ++i)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merged.push_back(leaf.get_entry(i));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next_leaf = leaf.next_leaf();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frame, false);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gather_overflow_chain(ovf, merged, error);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runs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std::stable_sort(merged.begin(), merged.end(), key);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for (entry : merged)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if (inside the lo/hi bounds)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walk.out-&gt;push_back(entry.rid);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walk: stop when the next leaf starts beyond hi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IsamIndex::scan_leaf_range(block, walk,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(block == kNoPage) return true;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chain ended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emit_leaf_range(block, walk, next_leaf,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(next_leaf == kNoPage)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 pin the next leaf; beyond = first key &gt; hi …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(beyond)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scan_leaf_range(next_leaf, walk,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Insert: the Operation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841248" y="1554480"/>
            <a:ext cx="51206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5875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A — the leaf has room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1051560" y="260604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508760" y="260604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240280" y="260604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971800" y="260604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3703320" y="2606040"/>
            <a:ext cx="1280160" cy="457200"/>
          </a:xfrm>
          <a:prstGeom prst="rect">
            <a:avLst/>
          </a:prstGeom>
          <a:solidFill>
            <a:srgbClr val="F2F2F2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count = 340</a:t>
            </a:r>
            <a:endParaRPr lang="en-US" sz="1050" dirty="0"/>
          </a:p>
        </p:txBody>
      </p:sp>
      <p:sp>
        <p:nvSpPr>
          <p:cNvPr id="11" name="Text 9"/>
          <p:cNvSpPr txBox="1"/>
          <p:nvPr/>
        </p:nvSpPr>
        <p:spPr>
          <a:xfrm>
            <a:off x="1051560" y="338328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sorted insert, tail memmoved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1051560" y="3703320"/>
            <a:ext cx="45720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…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1508760" y="370332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41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2240280" y="3703320"/>
            <a:ext cx="731520" cy="457200"/>
          </a:xfrm>
          <a:prstGeom prst="rect">
            <a:avLst/>
          </a:prstGeom>
          <a:solidFill>
            <a:srgbClr val="E2EFDA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42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971800" y="370332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47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3703320" y="3703320"/>
            <a:ext cx="7315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60</a:t>
            </a:r>
            <a:endParaRPr lang="en-US" sz="105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443484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descend the frozen separators to the owning leaf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insert_entry() keeps the page sorted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 and other leaves: untouched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554480"/>
            <a:ext cx="5120640" cy="4480560"/>
          </a:xfrm>
          <a:prstGeom prst="roundRect">
            <a:avLst>
              <a:gd name="adj" fmla="val 1020"/>
            </a:avLst>
          </a:prstGeom>
          <a:solidFill>
            <a:srgbClr val="FFFFFF"/>
          </a:solidFill>
          <a:ln w="15875">
            <a:solidFill>
              <a:srgbClr val="C55A11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428232" y="173736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B — the leaf is full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6428232" y="22860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28232" y="2606040"/>
            <a:ext cx="1554480" cy="4572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 full (340)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348472" y="260604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7982712" y="2834640"/>
            <a:ext cx="365760" cy="0"/>
          </a:xfrm>
          <a:prstGeom prst="line">
            <a:avLst/>
          </a:prstGeom>
          <a:noFill/>
          <a:ln w="15875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6428232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— new overflow page at the FRONT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428232" y="402336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7891272" y="4023360"/>
            <a:ext cx="100584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9050">
            <a:solidFill>
              <a:srgbClr val="C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new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354312" y="4023360"/>
            <a:ext cx="64008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7434072" y="4251960"/>
            <a:ext cx="457200" cy="0"/>
          </a:xfrm>
          <a:prstGeom prst="line">
            <a:avLst/>
          </a:prstGeom>
          <a:noFill/>
          <a:ln w="15875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8897112" y="4251960"/>
            <a:ext cx="457200" cy="0"/>
          </a:xfrm>
          <a:prstGeom prst="line">
            <a:avLst/>
          </a:prstGeom>
          <a:noFill/>
          <a:ln w="15875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30" name="Text 28"/>
          <p:cNvSpPr txBox="1"/>
          <p:nvPr/>
        </p:nvSpPr>
        <p:spPr>
          <a:xfrm>
            <a:off x="6428232" y="4709160"/>
            <a:ext cx="4663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overflow page with room wins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none? allocate one, chain at the FRONT, re-point first_overflow</a:t>
            </a:r>
            <a:endParaRPr lang="en-US" sz="1300" dirty="0"/>
          </a:p>
          <a:p>
            <a:pPr marL="152400" indent="-152400">
              <a:lnSpc>
                <a:spcPct val="104000"/>
              </a:lnSpc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separators: byte-for-byte frozen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Insert: the Index Layout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1463040" y="1783080"/>
            <a:ext cx="2926080" cy="640080"/>
          </a:xfrm>
          <a:prstGeom prst="roundRect">
            <a:avLst>
              <a:gd name="adj" fmla="val 5714"/>
            </a:avLst>
          </a:prstGeom>
          <a:solidFill>
            <a:srgbClr val="ED7D31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 — full (340 entries)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1737360" y="2971800"/>
            <a:ext cx="2377440" cy="594360"/>
          </a:xfrm>
          <a:prstGeom prst="roundRect">
            <a:avLst>
              <a:gd name="adj" fmla="val 6154"/>
            </a:avLst>
          </a:prstGeom>
          <a:solidFill>
            <a:srgbClr val="F2F2F2"/>
          </a:solidFill>
          <a:ln w="19050">
            <a:solidFill>
              <a:srgbClr val="C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 — new front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1737360" y="3977640"/>
            <a:ext cx="2377440" cy="594360"/>
          </a:xfrm>
          <a:prstGeom prst="roundRect">
            <a:avLst>
              <a:gd name="adj" fmla="val 6154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 — older spill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926080" y="2423160"/>
            <a:ext cx="0" cy="548640"/>
          </a:xfrm>
          <a:prstGeom prst="line">
            <a:avLst/>
          </a:prstGeom>
          <a:noFill/>
          <a:ln w="2540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3200400" y="256032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6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first_overflow = O2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3566160"/>
            <a:ext cx="0" cy="411480"/>
          </a:xfrm>
          <a:prstGeom prst="line">
            <a:avLst/>
          </a:prstGeom>
          <a:noFill/>
          <a:ln w="2540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3200400" y="361188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dirty="0">
                <a:solidFill>
                  <a:srgbClr val="76717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next_overflow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4846320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500 lands in O2; the chain answers as one merge of sorted runs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035040" y="1783080"/>
            <a:ext cx="530352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 ids come from the header’s last block + 1 — never from the on-disk block count (dirty pages lag the disk)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Entries stay sorted per page: each leaf’s answer remains a merge of sorted runs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header’s entry count updates with every insert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never split — nothing above them ever moves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" y="5349240"/>
            <a:ext cx="10497312" cy="868680"/>
          </a:xfrm>
          <a:prstGeom prst="roundRect">
            <a:avLst>
              <a:gd name="adj" fmla="val 5263"/>
            </a:avLst>
          </a:prstGeom>
          <a:solidFill>
            <a:srgbClr val="DAE3F3"/>
          </a:solidFill>
          <a:ln w="12700">
            <a:solidFill>
              <a:srgbClr val="2F5597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005840" y="5422392"/>
            <a:ext cx="10149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Frozen means frozen: 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any number of inserts, every separator page is byte-for-byte what build() wrote — the check suite diffs the bytes.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Insert: the Code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insert() — the public shape (D6)</a:t>
            </a:r>
            <a:endParaRPr lang="en-US" sz="1400" dirty="0"/>
          </a:p>
        </p:txBody>
      </p:sp>
      <p:sp>
        <p:nvSpPr>
          <p:cNvPr id="4" name="codeL"/>
          <p:cNvSpPr/>
          <p:nvPr/>
        </p:nvSpPr>
        <p:spPr>
          <a:xfrm>
            <a:off x="841248" y="1783080"/>
            <a:ext cx="521208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codeL_code"/>
          <p:cNvSpPr txBox="1"/>
          <p:nvPr/>
        </p:nvSpPr>
        <p:spPr>
          <a:xfrm>
            <a:off x="960120" y="1874520"/>
            <a:ext cx="497433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IsamIndex::insert(const Column&amp; key,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Rid rid,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std::string key_bytes(codec_.width(), '\0');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codec_.encode(key, key_bytes.data(),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an empty index grows its first leaf = the root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(root_ == kNoPage)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alloc_next_block(block, frame, error);  LeafPage leaf;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leaf.bind(manager_.frame(frame).buffer,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leaf.format(kNoPage, kNoPage);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leaf.insert_entry({key_bytes, rid},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release(manager_, frame, true);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dirty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root_ = first_leaf_ = block;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levels_ = 1;   entry_count_ = 1;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write_header(error);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leaf_block = descend(key_bytes.data(),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pin_leaf(leaf_block, leaf,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(leaf.count() &lt; leaf.capacity())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// room: sorted insert in place, tail memmoved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leaf.insert_entry({key_bytes, rid},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release(manager_, frame, true);  entry_count_ += 1;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write_header(error);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auto chain = leaf.first_overflow();  release(…);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insert_into_overflow(leaf_block, chain,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key_bytes, rid,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insert_into_overflow() — the spill (D6)</a:t>
            </a:r>
            <a:endParaRPr lang="en-US" sz="1400" dirty="0"/>
          </a:p>
        </p:txBody>
      </p:sp>
      <p:sp>
        <p:nvSpPr>
          <p:cNvPr id="7" name="codeR"/>
          <p:cNvSpPr/>
          <p:nvPr/>
        </p:nvSpPr>
        <p:spPr>
          <a:xfrm>
            <a:off x="6309360" y="1783080"/>
            <a:ext cx="502920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codeR_code"/>
          <p:cNvSpPr txBox="1"/>
          <p:nvPr/>
        </p:nvSpPr>
        <p:spPr>
          <a:xfrm>
            <a:off x="6428232" y="1874520"/>
            <a:ext cx="479145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spill: first overflow page with room, else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front-chain. find_overflow_with_room is tail-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recursive: pin, test, unpin, recurse; kNoPage = full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IsamIndex::insert_into_overflow(leaf_block,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chain, key_bytes, rid,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const std::uint32_t target =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find_overflow_with_room(chain,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(target != kNoPage) {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insert into that page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pin_overflow(target, page, target_frame,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page.insert_entry({key_bytes, rid},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release(manager_, target_frame, true);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entry_count_ += 1;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write_header(error);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// none has room: a new page takes the FRONT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alloc_next_block(new_block, new_frame,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OverflowPage page;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page.bind(manager_.frame(new_frame).buffer,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page.format(chain);     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next = the old front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page.insert_entry({key_bytes, rid}, …);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new_frame, true);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pin_leaf(leaf_block, link, …);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re-point the leaf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link.set_first_overflow(new_block);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link_frame, true);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entry_count_ += 1;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write_header(error);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Verify: the Operation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41248" y="1828800"/>
            <a:ext cx="137160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L1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2670048" y="1828800"/>
            <a:ext cx="137160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25400">
            <a:solidFill>
              <a:srgbClr val="C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L2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498848" y="1828800"/>
            <a:ext cx="1371600" cy="502920"/>
          </a:xfrm>
          <a:prstGeom prst="roundRect">
            <a:avLst>
              <a:gd name="adj" fmla="val 7273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L3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12848" y="2075688"/>
            <a:ext cx="45720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4041648" y="2075688"/>
            <a:ext cx="457200" cy="0"/>
          </a:xfrm>
          <a:prstGeom prst="line">
            <a:avLst/>
          </a:prstGeom>
          <a:noFill/>
          <a:ln w="19050">
            <a:solidFill>
              <a:srgbClr val="C55A11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2898648" y="2788920"/>
            <a:ext cx="914400" cy="457200"/>
          </a:xfrm>
          <a:prstGeom prst="roundRect">
            <a:avLst>
              <a:gd name="adj" fmla="val 8000"/>
            </a:avLst>
          </a:prstGeom>
          <a:solidFill>
            <a:srgbClr val="F2F2F2"/>
          </a:solidFill>
          <a:ln w="15875">
            <a:solidFill>
              <a:srgbClr val="76717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355848" y="2331720"/>
            <a:ext cx="0" cy="457200"/>
          </a:xfrm>
          <a:prstGeom prst="line">
            <a:avLst/>
          </a:prstGeom>
          <a:noFill/>
          <a:ln w="19050">
            <a:solidFill>
              <a:srgbClr val="767171"/>
            </a:solidFill>
            <a:prstDash val="solid"/>
            <a:tailEnd type="triangle"/>
          </a:ln>
        </p:spPr>
      </p:sp>
      <p:sp>
        <p:nvSpPr>
          <p:cNvPr id="10" name="Text 8"/>
          <p:cNvSpPr txBox="1"/>
          <p:nvPr/>
        </p:nvSpPr>
        <p:spPr>
          <a:xfrm>
            <a:off x="2377440" y="2395728"/>
            <a:ext cx="1188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swapped keys</a:t>
            </a:r>
            <a:endParaRPr lang="en-US" sz="1000" dirty="0"/>
          </a:p>
        </p:txBody>
      </p:sp>
      <p:sp>
        <p:nvSpPr>
          <p:cNvPr id="11" name="heap"/>
          <p:cNvSpPr/>
          <p:nvPr/>
        </p:nvSpPr>
        <p:spPr>
          <a:xfrm>
            <a:off x="841248" y="4206240"/>
            <a:ext cx="2011680" cy="1371600"/>
          </a:xfrm>
          <a:prstGeom prst="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79392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0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heap page 3</a:t>
            </a:r>
            <a:endParaRPr lang="en-US" sz="1050" dirty="0"/>
          </a:p>
        </p:txBody>
      </p:sp>
      <p:sp>
        <p:nvSpPr>
          <p:cNvPr id="13" name="slot0"/>
          <p:cNvSpPr/>
          <p:nvPr/>
        </p:nvSpPr>
        <p:spPr>
          <a:xfrm>
            <a:off x="1024128" y="4572000"/>
            <a:ext cx="164592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4" name="slot1"/>
          <p:cNvSpPr/>
          <p:nvPr/>
        </p:nvSpPr>
        <p:spPr>
          <a:xfrm>
            <a:off x="1024128" y="4873752"/>
            <a:ext cx="1645920" cy="237744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5" name="slot2"/>
          <p:cNvSpPr/>
          <p:nvPr/>
        </p:nvSpPr>
        <p:spPr>
          <a:xfrm>
            <a:off x="1024128" y="5175504"/>
            <a:ext cx="1645920" cy="237744"/>
          </a:xfrm>
          <a:prstGeom prst="rect">
            <a:avLst/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1097280" y="4910328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5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slot 1: empty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 flipH="1">
            <a:off x="2377440" y="3246120"/>
            <a:ext cx="640080" cy="960120"/>
          </a:xfrm>
          <a:prstGeom prst="line">
            <a:avLst/>
          </a:prstGeom>
          <a:noFill/>
          <a:ln w="22225">
            <a:solidFill>
              <a:srgbClr val="C00000"/>
            </a:solidFill>
            <a:prstDash val="dash"/>
            <a:tailEnd type="triangle"/>
          </a:ln>
        </p:spPr>
      </p:sp>
      <p:sp>
        <p:nvSpPr>
          <p:cNvPr id="18" name="Text 16"/>
          <p:cNvSpPr txBox="1"/>
          <p:nvPr/>
        </p:nvSpPr>
        <p:spPr>
          <a:xfrm>
            <a:off x="3291840" y="457200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C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rid that names an empty slot is dangling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675120" y="182880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findings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675120" y="219456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29984" y="2231136"/>
            <a:ext cx="4553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leaf 2: entries out of order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near key 87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75120" y="3017520"/>
            <a:ext cx="4663440" cy="502920"/>
          </a:xfrm>
          <a:prstGeom prst="roundRect">
            <a:avLst>
              <a:gd name="adj" fmla="val 14545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729984" y="3054096"/>
            <a:ext cx="4553712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dangling entry: key 42 rid (3, 7)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675120" y="3657600"/>
            <a:ext cx="4663440" cy="685800"/>
          </a:xfrm>
          <a:prstGeom prst="roundRect">
            <a:avLst>
              <a:gd name="adj" fmla="val 10667"/>
            </a:avLst>
          </a:prstGeom>
          <a:solidFill>
            <a:srgbClr val="F2F2F2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729984" y="3694176"/>
            <a:ext cx="4553712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walked 998 entries, the header</a:t>
            </a:r>
            <a:endParaRPr lang="en-US" sz="1150" dirty="0"/>
          </a:p>
          <a:p>
            <a:pPr algn="l" indent="0" marL="0">
              <a:buNone/>
            </a:pPr>
            <a:r>
              <a:rPr lang="en-US" sz="1150" dirty="0">
                <a:solidFill>
                  <a:srgbClr val="C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claims 1000</a:t>
            </a:r>
            <a:endParaRPr lang="en-US" sz="1150" dirty="0"/>
          </a:p>
        </p:txBody>
      </p:sp>
      <p:sp>
        <p:nvSpPr>
          <p:cNvPr id="26" name="Text 24"/>
          <p:cNvSpPr txBox="1"/>
          <p:nvPr/>
        </p:nvSpPr>
        <p:spPr>
          <a:xfrm>
            <a:off x="841248" y="57607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verify() walks every leaf and every overflow page and judges each rid through a caller-supplied occupancy callback.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Verify: the Index Layout</a:t>
            </a:r>
            <a:endParaRPr lang="en-US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41248" y="1691640"/>
          <a:ext cx="1049731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108960"/>
                <a:gridCol w="409651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5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is checked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5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where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3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2F559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named finding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AE3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entries sorted within the page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leaf and overflow page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2: entries out of order near key 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leaf-chain key order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keys across the leaf chain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leaf chain out of key order at leaf …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 occupancy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entry, via the caller’s callback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dangling entry: key 42 rid (3, 7)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walked total vs header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whole walk, then compared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walked 998 entries, the header claims 1000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41248" y="4709160"/>
            <a:ext cx="10497312" cy="1371600"/>
          </a:xfrm>
          <a:prstGeom prst="roundRect">
            <a:avLst>
              <a:gd name="adj" fmla="val 3333"/>
            </a:avLst>
          </a:prstGeom>
          <a:solidFill>
            <a:srgbClr val="FBE5D6"/>
          </a:solidFill>
          <a:ln w="12700">
            <a:solidFill>
              <a:srgbClr val="C55A11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1005840" y="4800600"/>
            <a:ext cx="10149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deliberate hole:  </a:t>
            </a:r>
            <a:pPr indent="0" marL="0">
              <a:buNone/>
            </a:pPr>
            <a:r>
              <a:rPr lang="en-US" sz="13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overflow keys are NOT ordered against their leaf. An insert into a full leaf spills regardless of value, so 6 can legally sit behind a leaf ending in 9 — a cross-structure check would flag legal data as corruption.</a:t>
            </a:r>
            <a:endParaRPr lang="en-US" sz="13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Verify: the Code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463040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verify() — walk, then compare totals (D7)</a:t>
            </a:r>
            <a:endParaRPr lang="en-US" sz="1400" dirty="0"/>
          </a:p>
        </p:txBody>
      </p:sp>
      <p:sp>
        <p:nvSpPr>
          <p:cNvPr id="4" name="codeL"/>
          <p:cNvSpPr/>
          <p:nvPr/>
        </p:nvSpPr>
        <p:spPr>
          <a:xfrm>
            <a:off x="841248" y="1783080"/>
            <a:ext cx="521208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5" name="codeL_code"/>
          <p:cNvSpPr txBox="1"/>
          <p:nvPr/>
        </p:nvSpPr>
        <p:spPr>
          <a:xfrm>
            <a:off x="960120" y="1874520"/>
            <a:ext cx="497433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check_entries(page, label, …): the shared per-entry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check — sortedness + dangling rids, any EntryPage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IsamIndex::verify(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const std::function&lt;bool(const Rid&amp;)&gt;&amp; occupied,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std::size_t&amp; entry_count,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std::vector&lt;std::string&gt;&amp; findings,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std::string&amp;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entry_count = 0;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findings.clear();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(!open_) { error = "index is not open"; …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VerifyWalk walk{occupied, findings, entry_count};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(!verify_leaf_chain(first_leaf_, "", false,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walk, error))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(entry_count != entry_count_)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findings.push_back("walked " + std::to_string(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entry_count) + " entries, the header claims "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+ std::to_string(entry_count_));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309360" y="146304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leaf-chain walk and its overflow arm (D7)</a:t>
            </a:r>
            <a:endParaRPr lang="en-US" sz="1400" dirty="0"/>
          </a:p>
        </p:txBody>
      </p:sp>
      <p:sp>
        <p:nvSpPr>
          <p:cNvPr id="7" name="codeR"/>
          <p:cNvSpPr/>
          <p:nvPr/>
        </p:nvSpPr>
        <p:spPr>
          <a:xfrm>
            <a:off x="6309360" y="1783080"/>
            <a:ext cx="5029200" cy="4343400"/>
          </a:xfrm>
          <a:prstGeom prst="roundRect">
            <a:avLst>
              <a:gd name="adj" fmla="val 1263"/>
            </a:avLst>
          </a:prstGeom>
          <a:solidFill>
            <a:srgbClr val="F7F7F7"/>
          </a:solidFill>
          <a:ln w="9525">
            <a:solidFill>
              <a:srgbClr val="D9D9D9"/>
            </a:solidFill>
            <a:prstDash val="solid"/>
          </a:ln>
        </p:spPr>
      </p:sp>
      <p:sp>
        <p:nvSpPr>
          <p:cNvPr id="8" name="codeR_code"/>
          <p:cNvSpPr txBox="1"/>
          <p:nvPr/>
        </p:nvSpPr>
        <p:spPr>
          <a:xfrm>
            <a:off x="6428232" y="1874520"/>
            <a:ext cx="4791456" cy="4160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one leaf per frame; carry the chain order forward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IsamIndex::verify_leaf_chain(block, previous_key,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has_previous, walk,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(block == kNoPage) return true;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chain ended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LeafPage leaf;  pin_leaf(block, leaf, frame,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walk.entry_count += check_entries(leaf, codec_,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"leaf " + std::to_string(block),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walk.occupied, walk.findings);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(has_previous)   </a:t>
            </a:r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no key may precede the last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… chain-order finding vs previous_key …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 remember this leaf’s last key …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release(manager_, frame, false);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(!verify_overflow_chain(ovf, walk, error))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return false;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verify_leaf_chain(next_leaf, last_key,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has_last, walk,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54823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// the overflow arm: check_entries + recurse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 IsamIndex::verify_overflow_chain(block, walk, error) {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if (block == kNoPage) return true;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… check_entries(page, "overflow " + id, …) …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return verify_overflow_chain(page.next_overflow(),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walk, error);</a:t>
            </a:r>
            <a:endParaRPr lang="en-US" sz="1000" dirty="0"/>
          </a:p>
          <a:p>
            <a:pPr indent="0" marL="0">
              <a:lnSpc>
                <a:spcPct val="1000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The Page-View Discipline</a:t>
            </a: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841248" y="1691640"/>
            <a:ext cx="429768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pin(file, block) → frame</a:t>
            </a:r>
            <a:endParaRPr lang="en-US" sz="1300" dirty="0"/>
          </a:p>
        </p:txBody>
      </p:sp>
      <p:sp>
        <p:nvSpPr>
          <p:cNvPr id="4" name="Text 2"/>
          <p:cNvSpPr txBox="1"/>
          <p:nvPr/>
        </p:nvSpPr>
        <p:spPr>
          <a:xfrm>
            <a:off x="1024128" y="229514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buffer manager pins the block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926080" y="2258568"/>
            <a:ext cx="0" cy="48463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841248" y="2743200"/>
            <a:ext cx="429768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view.bind(frame.buffer, key_width)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1024128" y="334670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view wraps the frame’s bytes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926080" y="3310128"/>
            <a:ext cx="0" cy="48463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841248" y="3794760"/>
            <a:ext cx="4297680" cy="566928"/>
          </a:xfrm>
          <a:prstGeom prst="roundRect">
            <a:avLst>
              <a:gd name="adj" fmla="val 6452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format / attach / insert_entry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1024128" y="439826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attach validates count ≤ capacity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926080" y="4361688"/>
            <a:ext cx="0" cy="484632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841248" y="4846320"/>
            <a:ext cx="4297680" cy="566928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release(frame, dirty)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1024128" y="5449824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unpin — pin windows stay one page long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1828800"/>
            <a:ext cx="55778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Views are non-owning: bound to a pinned frame’s buffer, never to a copy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format() and attach() are the only writers of structural fields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stored count that exceeds capacity is corrupted or foreign bytes — a hard error, exactly like SlottedPage::attach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views over one discipline: SeparatorPage, LeafPage (via EntryPage), OverflowPage</a:t>
            </a:r>
            <a:endParaRPr lang="en-US" sz="1500" dirty="0"/>
          </a:p>
          <a:p>
            <a:pPr marL="152400" indent="-152400">
              <a:lnSpc>
                <a:spcPct val="104000"/>
              </a:lnSpc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 are bool + a named message, cleared on entry — the ex11 house convention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One Operation, One Recursion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5544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is now a public function plus small recursive workers — one structure per worker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41248" y="2057400"/>
            <a:ext cx="1234440" cy="548640"/>
          </a:xfrm>
          <a:prstGeom prst="roundRect">
            <a:avLst>
              <a:gd name="adj" fmla="val 6667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2212848" y="2057400"/>
            <a:ext cx="4434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descend_from · scan_leaf_chain · scan_overflow_chain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841248" y="2807208"/>
            <a:ext cx="1234440" cy="548640"/>
          </a:xfrm>
          <a:prstGeom prst="roundRect">
            <a:avLst>
              <a:gd name="adj" fmla="val 6667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212848" y="2807208"/>
            <a:ext cx="4434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scan_leaf_range · emit_leaf_range · gather_overflow_chain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41248" y="3557016"/>
            <a:ext cx="1234440" cy="548640"/>
          </a:xfrm>
          <a:prstGeom prst="roundRect">
            <a:avLst>
              <a:gd name="adj" fmla="val 6667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212848" y="3557016"/>
            <a:ext cx="4434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find_overflow_with_room · insert_into_overflow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841248" y="4306824"/>
            <a:ext cx="1234440" cy="548640"/>
          </a:xfrm>
          <a:prstGeom prst="roundRect">
            <a:avLst>
              <a:gd name="adj" fmla="val 6667"/>
            </a:avLst>
          </a:prstGeom>
          <a:solidFill>
            <a:srgbClr val="FBE5D6"/>
          </a:solidFill>
          <a:ln w="15875">
            <a:solidFill>
              <a:srgbClr val="C55A11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55A1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212848" y="4306824"/>
            <a:ext cx="4434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verify_leaf_chain · verify_overflow_chain (+ check_entries)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841248" y="5056632"/>
            <a:ext cx="1234440" cy="548640"/>
          </a:xfrm>
          <a:prstGeom prst="roundRect">
            <a:avLst>
              <a:gd name="adj" fmla="val 6667"/>
            </a:avLst>
          </a:prstGeom>
          <a:solidFill>
            <a:srgbClr val="DAE3F3"/>
          </a:solidFill>
          <a:ln w="15875">
            <a:solidFill>
              <a:srgbClr val="2F5597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212848" y="5056632"/>
            <a:ext cx="4434840" cy="5486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l" indent="0" marL="0">
              <a:buNone/>
            </a:pPr>
            <a:r>
              <a:rPr lang="en-US" sz="11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encode_and_sort · build_leaves · link_leaf_chain · build_separator_level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841248" y="5897880"/>
            <a:ext cx="5852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50" dirty="0">
                <a:solidFill>
                  <a:srgbClr val="59595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base cases are named: kNoPage ends a chain · levels_remaining == 0 lands on the leaf · level.size() &lt;= 1 is the root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6949440" y="205740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discipline in every worker (D9)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949440" y="2468880"/>
            <a:ext cx="274320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 one page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8321040" y="2944368"/>
            <a:ext cx="0" cy="237744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6949440" y="3182112"/>
            <a:ext cx="274320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 on the view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8321040" y="3657600"/>
            <a:ext cx="0" cy="237744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6949440" y="3895344"/>
            <a:ext cx="2743200" cy="475488"/>
          </a:xfrm>
          <a:prstGeom prst="roundRect">
            <a:avLst>
              <a:gd name="adj" fmla="val 7692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unpin the frame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8321040" y="4370832"/>
            <a:ext cx="0" cy="237744"/>
          </a:xfrm>
          <a:prstGeom prst="line">
            <a:avLst/>
          </a:prstGeom>
          <a:noFill/>
          <a:ln w="22225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6949440" y="4608576"/>
            <a:ext cx="2743200" cy="475488"/>
          </a:xfrm>
          <a:prstGeom prst="roundRect">
            <a:avLst>
              <a:gd name="adj" fmla="val 7692"/>
            </a:avLst>
          </a:prstGeom>
          <a:solidFill>
            <a:srgbClr val="E2EFDA"/>
          </a:solidFill>
          <a:ln w="15875">
            <a:solidFill>
              <a:srgbClr val="54823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recurse (or return)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9921240" y="2468880"/>
            <a:ext cx="146304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frame is ever held across a recursive call</a:t>
            </a:r>
            <a:endParaRPr lang="en-US" sz="1050" dirty="0"/>
          </a:p>
          <a:p>
            <a:pPr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 byte-identical to the loop version — golden diff</a:t>
            </a:r>
            <a:endParaRPr lang="en-US" sz="1050" dirty="0"/>
          </a:p>
          <a:p>
            <a:pPr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0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1175 checks pass; public API untouched</a:t>
            </a:r>
            <a:endParaRPr lang="en-US" sz="10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ISAM vs B+tree — Why Freeze the Tree</a:t>
            </a:r>
            <a:endParaRPr lang="en-US" dirty="0"/>
          </a:p>
        </p:txBody>
      </p:sp>
      <p:sp>
        <p:nvSpPr>
          <p:cNvPr id="3" name="Shape 1"/>
          <p:cNvSpPr/>
          <p:nvPr/>
        </p:nvSpPr>
        <p:spPr>
          <a:xfrm>
            <a:off x="841248" y="1645920"/>
            <a:ext cx="5120640" cy="4389120"/>
          </a:xfrm>
          <a:prstGeom prst="roundRect">
            <a:avLst>
              <a:gd name="adj" fmla="val 1042"/>
            </a:avLst>
          </a:prstGeom>
          <a:solidFill>
            <a:srgbClr val="DAE3F3"/>
          </a:solidFill>
          <a:ln w="15875">
            <a:solidFill>
              <a:srgbClr val="2F5597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105156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ISAM (this exercise)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22860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 built bottom-up once, then frozen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leaves never split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inserts spill into overflow chains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cost shows up in data (spilled keys) before it shows up in structure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static structure over a dynamic file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236208" y="1645920"/>
            <a:ext cx="5120640" cy="4389120"/>
          </a:xfrm>
          <a:prstGeom prst="roundRect">
            <a:avLst>
              <a:gd name="adj" fmla="val 1042"/>
            </a:avLst>
          </a:prstGeom>
          <a:solidFill>
            <a:srgbClr val="FFFFFF"/>
          </a:solidFill>
          <a:ln w="15875">
            <a:solidFill>
              <a:srgbClr val="000000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8288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B+tree (the next exercise)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286000"/>
            <a:ext cx="46634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pages split on demand; splits propagate up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separators are updated as the tree grows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overflow chains — the tree absorbs inserts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tree rebalances itself; height stays logarithmic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frozen-separator contrast is the point of building ISAM first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Proving It: the Check Suite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1691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1175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checks across five suites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453128" y="1691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4453128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 suites vendored from ex11 and ex12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065008" y="1691640"/>
            <a:ext cx="3291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× 500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8065008" y="251460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random predicates over random rows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188720" y="3566160"/>
            <a:ext cx="4206240" cy="82296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5875">
            <a:solidFill>
              <a:srgbClr val="000000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SELECT executed twice: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 allowed · index suppressed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035040" y="3566160"/>
            <a:ext cx="3108960" cy="822960"/>
          </a:xfrm>
          <a:prstGeom prst="roundRect">
            <a:avLst>
              <a:gd name="adj" fmla="val 4444"/>
            </a:avLst>
          </a:prstGeom>
          <a:solidFill>
            <a:srgbClr val="E2EFDA"/>
          </a:solidFill>
          <a:ln w="15875">
            <a:solidFill>
              <a:srgbClr val="54823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answers must be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set of rows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784080" y="3566160"/>
            <a:ext cx="1371600" cy="822960"/>
          </a:xfrm>
          <a:prstGeom prst="roundRect">
            <a:avLst>
              <a:gd name="adj" fmla="val 4444"/>
            </a:avLst>
          </a:prstGeom>
          <a:solidFill>
            <a:srgbClr val="70AD47"/>
          </a:solidFill>
          <a:ln w="15875">
            <a:solidFill>
              <a:srgbClr val="548235"/>
            </a:solidFill>
          </a:ln>
        </p:spPr>
        <p:txBody>
          <a:bodyPr wrap="square" lIns="254" tIns="254" rIns="254" bIns="254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PASS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394960" y="3977640"/>
            <a:ext cx="64008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9144000" y="3977640"/>
            <a:ext cx="640080" cy="0"/>
          </a:xfrm>
          <a:prstGeom prst="line">
            <a:avLst/>
          </a:prstGeom>
          <a:noFill/>
          <a:ln w="25400">
            <a:solidFill>
              <a:srgbClr val="000000"/>
            </a:solidFill>
            <a:prstDash val="solid"/>
            <a:tailEnd type="triangle"/>
          </a:ln>
        </p:spPr>
      </p:sp>
      <p:sp>
        <p:nvSpPr>
          <p:cNvPr id="14" name="Text 12"/>
          <p:cNvSpPr txBox="1"/>
          <p:nvPr/>
        </p:nvSpPr>
        <p:spPr>
          <a:xfrm>
            <a:off x="1188720" y="45262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5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differential oracle — correctness never depends on the access path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41248" y="5029200"/>
            <a:ext cx="10515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index-module suite: byte-frozen separators, duplicates spanning leaves, seeded corruption, persistence</a:t>
            </a:r>
            <a:endParaRPr lang="en-US" sz="1400" dirty="0"/>
          </a:p>
          <a:p>
            <a:pPr marL="152400" indent="-152400">
              <a:lnSpc>
                <a:spcPct val="104000"/>
              </a:lnSpc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checkindex: verify() over any index file — one report line per index, clean or named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613648" y="6382512"/>
            <a:ext cx="274320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000000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3771" cy="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dirty="0"/>
              <a:t>Questions ?</a:t>
            </a:r>
            <a:endParaRPr lang="en-US" dirty="0"/>
          </a:p>
        </p:txBody>
      </p:sp>
      <p:sp>
        <p:nvSpPr>
          <p:cNvPr id="3" name="Text 1"/>
          <p:cNvSpPr txBox="1"/>
          <p:nvPr/>
        </p:nvSpPr>
        <p:spPr>
          <a:xfrm>
            <a:off x="841248" y="338328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000" dirty="0">
                <a:solidFill>
                  <a:srgbClr val="2F559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manuel.rodriguez7@upr.edu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841248" y="40233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ex13 — the ISAM implementation · EXPLAIN.md has the full story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27</Slides>
  <Notes>27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</vt:vector>
  </TitlesOfParts>
  <Company>Database Systems Engineering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The ISAM Implementation (ex13)</dc:subject>
  <dc:creator>Dr. Manuel Rodriguez Martinez</dc:creator>
  <cp:lastModifiedBy>Dr. Manuel Rodriguez Martinez</cp:lastModifiedBy>
  <cp:revision>1</cp:revision>
  <dcterms:created xsi:type="dcterms:W3CDTF">2026-10-06T13:13:51Z</dcterms:created>
  <dcterms:modified xsi:type="dcterms:W3CDTF">2026-10-06T13:13:51Z</dcterms:modified>
</cp:coreProperties>
</file>