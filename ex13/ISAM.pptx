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0af729e-ae9b-8c8c-4f31-f14544d8db2d}">
          <p14:sldIdLst>
            <p14:sldId id="256"/>
            <p14:sldId id="257"/>
            <p14:sldId id="258"/>
            <p14:sldId id="259"/>
          </p14:sldIdLst>
        </p14:section>
        <p14:section name="File Format" id="{c087292f-309d-580f-5678-849502866e75}">
          <p14:sldIdLst>
            <p14:sldId id="260"/>
            <p14:sldId id="261"/>
            <p14:sldId id="262"/>
          </p14:sldIdLst>
        </p14:section>
        <p14:section name="Operations" id="{51d42ba6-8832-1e97-4b3f-4845d6eea734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Design and Testing" id="{5cb32a63-786b-b5d0-3155-03ddaa891ed5}">
          <p14:sldIdLst>
            <p14:sldId id="278"/>
            <p14:sldId id="279"/>
            <p14:sldId id="280"/>
            <p14:sldId id="281"/>
          </p14:sldIdLst>
        </p14:section>
        <p14:section name="Wrap-up" id="{619c9933-94de-81e0-e713-74dfd430cb03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382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041648" y="6382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Manuel Rodriguez Martinez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Database Systems Engineering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Indexing: The ISAM Implementation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ex13 — a SQL front door with an ISAM index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Rodriguez-Martinez, Ph.D.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Objectives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645920"/>
            <a:ext cx="5943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lecture’s ISAM, now with bytes: one file format, five operations</a:t>
            </a:r>
            <a:endParaRPr lang="en-US" sz="16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index sits in the ex13 engine</a:t>
            </a:r>
            <a:endParaRPr lang="en-US" sz="16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format: header, separator, leaf, and overflow pages</a:t>
            </a:r>
            <a:endParaRPr lang="en-US" sz="16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operations, three slides each: the operation, the index layout, the code</a:t>
            </a:r>
            <a:endParaRPr lang="en-US" sz="16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page-view discipline borrowed from SlottedPage</a:t>
            </a:r>
            <a:endParaRPr lang="en-US" sz="16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1124 checks — and a differential oracle — prove the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32520" y="1783080"/>
            <a:ext cx="1554480" cy="411480"/>
          </a:xfrm>
          <a:prstGeom prst="roundRect">
            <a:avLst>
              <a:gd name="adj" fmla="val 8889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0" y="2788920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738360" y="2788920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69480" y="3794760"/>
            <a:ext cx="1234440" cy="411480"/>
          </a:xfrm>
          <a:prstGeom prst="roundRect">
            <a:avLst>
              <a:gd name="adj" fmla="val 8889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0" y="3794760"/>
            <a:ext cx="1234440" cy="411480"/>
          </a:xfrm>
          <a:prstGeom prst="roundRect">
            <a:avLst>
              <a:gd name="adj" fmla="val 8889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69880" y="3794760"/>
            <a:ext cx="914400" cy="411480"/>
          </a:xfrm>
          <a:prstGeom prst="roundRect">
            <a:avLst>
              <a:gd name="adj" fmla="val 8889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0" y="4709160"/>
            <a:ext cx="868680" cy="36576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5875">
            <a:solidFill>
              <a:srgbClr val="7671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H="1">
            <a:off x="8641080" y="2194560"/>
            <a:ext cx="868680" cy="594360"/>
          </a:xfrm>
          <a:prstGeom prst="line">
            <a:avLst/>
          </a:prstGeom>
          <a:noFill/>
          <a:ln w="2222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509760" y="2194560"/>
            <a:ext cx="868680" cy="594360"/>
          </a:xfrm>
          <a:prstGeom prst="line">
            <a:avLst/>
          </a:prstGeom>
          <a:noFill/>
          <a:ln w="2222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7909560" y="3200400"/>
            <a:ext cx="640080" cy="59436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49640" y="3200400"/>
            <a:ext cx="868680" cy="59436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424160" y="3200400"/>
            <a:ext cx="502920" cy="59436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81160" y="4206240"/>
            <a:ext cx="182880" cy="502920"/>
          </a:xfrm>
          <a:prstGeom prst="line">
            <a:avLst/>
          </a:prstGeom>
          <a:noFill/>
          <a:ln w="19050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17" name="lg"/>
          <p:cNvSpPr/>
          <p:nvPr/>
        </p:nvSpPr>
        <p:spPr>
          <a:xfrm>
            <a:off x="7269480" y="5394960"/>
            <a:ext cx="201168" cy="201168"/>
          </a:xfrm>
          <a:prstGeom prst="rect">
            <a:avLst/>
          </a:prstGeom>
          <a:solidFill>
            <a:srgbClr val="DAE3F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62088" y="5349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(separator) pages</a:t>
            </a:r>
            <a:endParaRPr lang="en-US" sz="1200" dirty="0"/>
          </a:p>
        </p:txBody>
      </p:sp>
      <p:sp>
        <p:nvSpPr>
          <p:cNvPr id="19" name="lg"/>
          <p:cNvSpPr/>
          <p:nvPr/>
        </p:nvSpPr>
        <p:spPr>
          <a:xfrm>
            <a:off x="7269480" y="5715000"/>
            <a:ext cx="201168" cy="201168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62088" y="5669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(leaf) pages</a:t>
            </a:r>
            <a:endParaRPr lang="en-US" sz="1200" dirty="0"/>
          </a:p>
        </p:txBody>
      </p:sp>
      <p:sp>
        <p:nvSpPr>
          <p:cNvPr id="21" name="lg"/>
          <p:cNvSpPr/>
          <p:nvPr/>
        </p:nvSpPr>
        <p:spPr>
          <a:xfrm>
            <a:off x="7269480" y="6035040"/>
            <a:ext cx="201168" cy="201168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62088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pages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Where the Index Sits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1248" y="1600200"/>
            <a:ext cx="5577840" cy="566928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ex13_cli — the SQL REPL + escape hatches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30168" y="2167128"/>
            <a:ext cx="0" cy="27432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841248" y="2441448"/>
            <a:ext cx="5577840" cy="566928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exec/ — Binder · Planner · Executor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30168" y="3008376"/>
            <a:ext cx="0" cy="27432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41248" y="3282696"/>
            <a:ext cx="5577840" cy="566928"/>
          </a:xfrm>
          <a:prstGeom prst="rect">
            <a:avLst>
              <a:gd name="adj" fmla="val 6452"/>
            </a:avLst>
          </a:prstGeom>
          <a:solidFill>
            <a:srgbClr val="DAE3F3"/>
          </a:solidFill>
          <a:ln w="19050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index/ — IsamIndex · KeyCodec · page views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30168" y="3849624"/>
            <a:ext cx="0" cy="27432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41248" y="4123944"/>
            <a:ext cx="5577840" cy="566928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bufpool/ — BufferManager (LRU, 8 frames)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30168" y="4690872"/>
            <a:ext cx="0" cy="27432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41248" y="4965192"/>
            <a:ext cx="5577840" cy="566928"/>
          </a:xfrm>
          <a:prstGeom prst="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file/ — BlockFile: 4096-byte block I/O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5897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index page is read and written through the buffer pool — the index never touches the file directly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12280" y="1600200"/>
            <a:ext cx="4526280" cy="4023360"/>
          </a:xfrm>
          <a:prstGeom prst="roundRect">
            <a:avLst>
              <a:gd name="adj" fmla="val 1136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17830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(data file, column)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2860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data/person.tbl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5603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heap — the table’s records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9718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data/person.tbl.pid.idx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2461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ISAM index on column pid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703320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 over the heap’s rows, then maintained incrementally</a:t>
            </a:r>
            <a:endParaRPr lang="en-US" sz="130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reads or writes heap records — callers hand in values and row addresses</a:t>
            </a:r>
            <a:endParaRPr lang="en-US" sz="130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travel as encoded bytes; rids are (page, slot) pairs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Two Castes of Pages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49240" y="155448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separator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977640" y="251460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78040" y="251460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97480" y="352044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352044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12280" y="352044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0" y="352044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H="1">
            <a:off x="4892040" y="2011680"/>
            <a:ext cx="960120" cy="502920"/>
          </a:xfrm>
          <a:prstGeom prst="line">
            <a:avLst/>
          </a:prstGeom>
          <a:noFill/>
          <a:ln w="2222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0" y="2011680"/>
            <a:ext cx="1417320" cy="502920"/>
          </a:xfrm>
          <a:prstGeom prst="line">
            <a:avLst/>
          </a:prstGeom>
          <a:noFill/>
          <a:ln w="2222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3611880" y="2971800"/>
            <a:ext cx="868680" cy="54864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12080" y="2971800"/>
            <a:ext cx="365760" cy="54864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7635240" y="2971800"/>
            <a:ext cx="45720" cy="54864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03920" y="2971800"/>
            <a:ext cx="1188720" cy="54864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3749040"/>
            <a:ext cx="320040" cy="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92240" y="3749040"/>
            <a:ext cx="320040" cy="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49640" y="3749040"/>
            <a:ext cx="320040" cy="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892040" y="434340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 w="15875">
            <a:solidFill>
              <a:srgbClr val="7671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4892040"/>
            <a:ext cx="1828800" cy="41148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 w="15875">
            <a:solidFill>
              <a:srgbClr val="7671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3977640"/>
            <a:ext cx="0" cy="365760"/>
          </a:xfrm>
          <a:prstGeom prst="line">
            <a:avLst/>
          </a:prstGeom>
          <a:noFill/>
          <a:ln w="19050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23560" y="4754880"/>
            <a:ext cx="0" cy="137160"/>
          </a:xfrm>
          <a:prstGeom prst="line">
            <a:avLst/>
          </a:prstGeom>
          <a:noFill/>
          <a:ln w="19050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41248" y="5486400"/>
            <a:ext cx="4892040" cy="777240"/>
          </a:xfrm>
          <a:prstGeom prst="roundRect">
            <a:avLst>
              <a:gd name="adj" fmla="val 5882"/>
            </a:avLst>
          </a:prstGeom>
          <a:solidFill>
            <a:srgbClr val="DAE3F3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55595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pages — SeparatorPage.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bottom-up, then frozen: no insert ever touches one.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89320" y="5486400"/>
            <a:ext cx="5349240" cy="777240"/>
          </a:xfrm>
          <a:prstGeom prst="roundRect">
            <a:avLst>
              <a:gd name="adj" fmla="val 5882"/>
            </a:avLst>
          </a:prstGeom>
          <a:solidFill>
            <a:srgbClr val="FBE5D6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08192" y="55595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pages — LeafPage + OverflowPage.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(key, rid) entries; overflow chains absorb inserts.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Block 0 — the Header Page</a:t>
            </a:r>
            <a:endParaRPr lang="en-US" dirty="0"/>
          </a:p>
        </p:txBody>
      </p:sp>
      <p:sp>
        <p:nvSpPr>
          <p:cNvPr id="3" name="hdr"/>
          <p:cNvSpPr/>
          <p:nvPr/>
        </p:nvSpPr>
        <p:spPr>
          <a:xfrm>
            <a:off x="841248" y="1554480"/>
            <a:ext cx="5486400" cy="4572000"/>
          </a:xfrm>
          <a:prstGeom prst="rect">
            <a:avLst>
              <a:gd name="adj" fmla="val 1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21031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2011680"/>
            <a:ext cx="30540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"ISAM"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414016"/>
            <a:ext cx="21031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2414016"/>
            <a:ext cx="30540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· Double · String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2816352"/>
            <a:ext cx="21031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width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816352"/>
            <a:ext cx="30540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8 / declared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218688"/>
            <a:ext cx="21031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3218688"/>
            <a:ext cx="30540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+ bytes (&lt;= 200)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621024"/>
            <a:ext cx="21031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621024"/>
            <a:ext cx="30540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+ bytes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4023360"/>
            <a:ext cx="21031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block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4023360"/>
            <a:ext cx="30540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u32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4425696"/>
            <a:ext cx="21031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leaf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4425696"/>
            <a:ext cx="30540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u32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4828032"/>
            <a:ext cx="21031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count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4828032"/>
            <a:ext cx="30540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u32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5230368"/>
            <a:ext cx="21031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count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5230368"/>
            <a:ext cx="30540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u64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5632704"/>
            <a:ext cx="21031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block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08960" y="5632704"/>
            <a:ext cx="30540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u32 — dense allocation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1828800"/>
            <a:ext cx="4617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identifies itself: magic, key type and width, table and column names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validates all of it against the bound schema before use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write_header() runs after every insert — the entry count and last block move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deleted index file is a lazy rebuild, not an error — the catalog says what should exist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Page Formats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 page (index)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901952"/>
            <a:ext cx="82296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64208" y="1901952"/>
            <a:ext cx="640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04288" y="1901952"/>
            <a:ext cx="640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44368" y="1901952"/>
            <a:ext cx="640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84448" y="1901952"/>
            <a:ext cx="640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24528" y="1901952"/>
            <a:ext cx="457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81728" y="1901952"/>
            <a:ext cx="640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21808" y="1901952"/>
            <a:ext cx="640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61888" y="1901952"/>
            <a:ext cx="1554480" cy="502920"/>
          </a:xfrm>
          <a:prstGeom prst="rect">
            <a:avLst/>
          </a:prstGeom>
          <a:solidFill>
            <a:srgbClr val="DAE3F3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child P0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542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 = (4096 − 8) / (keyw + 4)   →   511 separators for int keys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page (data)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3410712"/>
            <a:ext cx="82296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64208" y="3410712"/>
            <a:ext cx="1005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leaf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70048" y="3410712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1st ovf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84448" y="3410712"/>
            <a:ext cx="548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33088" y="3410712"/>
            <a:ext cx="1051560" cy="50292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84648" y="3410712"/>
            <a:ext cx="548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33288" y="3410712"/>
            <a:ext cx="1051560" cy="50292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84848" y="3410712"/>
            <a:ext cx="457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42048" y="3410712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rid: page + slot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050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 = (4096 − 12) / (keyw + 8)   →   340 entries for int keys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page (data)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1248" y="4919472"/>
            <a:ext cx="82296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64208" y="4919472"/>
            <a:ext cx="14630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overflow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27248" y="4919472"/>
            <a:ext cx="548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75888" y="4919472"/>
            <a:ext cx="1051560" cy="50292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27448" y="4919472"/>
            <a:ext cx="548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76088" y="4919472"/>
            <a:ext cx="1051560" cy="50292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27648" y="4919472"/>
            <a:ext cx="457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" y="5559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 = (4096 − 8) / (keyw + 8)   →   340 entries for int keys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41248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counts are u32; keys are exactly codec.width() bytes; rid = (page u32, slot u32)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KeyCodec — One Key Encoding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encode(): value → fixed-width bytes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2011680"/>
            <a:ext cx="1554480" cy="475488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395728" y="2011680"/>
            <a:ext cx="3291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bytes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41248" y="2578608"/>
            <a:ext cx="1554480" cy="475488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95728" y="2578608"/>
            <a:ext cx="3291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bytes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145536"/>
            <a:ext cx="1554480" cy="475488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95728" y="3145536"/>
            <a:ext cx="3291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declared width, NUL-padded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97764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4014216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width  ⇒  pages binary-search raw bytes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754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compare() is a total order on the encoded bytes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 for numbers, byte order for strings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(NUL padding makes byte order equal value order)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828800"/>
            <a:ext cx="5166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hold and compare bytes — only KeyCodec decodes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codec instance is bound to one column’s type and width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wider than the column, or containing NUL, are refused at encode time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decode() turns bytes back into a Column — for callers, never for the pages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renders a readable key for error messages and verify findings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Bulk Build: the Operation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9536" y="1481328"/>
            <a:ext cx="310896" cy="310896"/>
          </a:xfrm>
          <a:prstGeom prst="ellipse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1248" y="192024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every key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61488" y="2286000"/>
            <a:ext cx="292608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072384" y="1481328"/>
            <a:ext cx="310896" cy="310896"/>
          </a:xfrm>
          <a:prstGeom prst="ellipse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54096" y="192024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 memory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74336" y="2286000"/>
            <a:ext cx="292608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285232" y="1481328"/>
            <a:ext cx="310896" cy="310896"/>
          </a:xfrm>
          <a:prstGeom prst="ellipse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66944" y="192024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build_leaves: fill L→R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87184" y="2286000"/>
            <a:ext cx="292608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498080" y="1481328"/>
            <a:ext cx="310896" cy="310896"/>
          </a:xfrm>
          <a:prstGeom prst="ellipse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9792" y="192024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link_leaf_chain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400032" y="2286000"/>
            <a:ext cx="292608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710928" y="1481328"/>
            <a:ext cx="310896" cy="310896"/>
          </a:xfrm>
          <a:prstGeom prst="ellipse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92640" y="192024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build_separator_level: recurse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build_leaves fills each leaf; next_leaf stays empty until…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26080" y="342900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1…340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341…680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2900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681…1000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3675888"/>
            <a:ext cx="274320" cy="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83680" y="3675888"/>
            <a:ext cx="274320" cy="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841248" y="4206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…link_leaf_chain links the chain — then each level is built from the first key of every page below — except the leftmost — until one page holds a level: the root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0" y="4800600"/>
            <a:ext cx="4526280" cy="502920"/>
          </a:xfrm>
          <a:prstGeom prst="roundRect">
            <a:avLst>
              <a:gd name="adj" fmla="val 7273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separator: 341 → L2 · 681 → L3 · first child L1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794760" y="3931920"/>
            <a:ext cx="411480" cy="868680"/>
          </a:xfrm>
          <a:prstGeom prst="line">
            <a:avLst/>
          </a:prstGeom>
          <a:noFill/>
          <a:ln w="19050">
            <a:solidFill>
              <a:srgbClr val="2F5597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5486400" y="3931920"/>
            <a:ext cx="274320" cy="868680"/>
          </a:xfrm>
          <a:prstGeom prst="line">
            <a:avLst/>
          </a:prstGeom>
          <a:noFill/>
          <a:ln w="19050">
            <a:solidFill>
              <a:srgbClr val="2F5597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6949440" y="3931920"/>
            <a:ext cx="731520" cy="868680"/>
          </a:xfrm>
          <a:prstGeom prst="line">
            <a:avLst/>
          </a:prstGeom>
          <a:noFill/>
          <a:ln w="19050">
            <a:solidFill>
              <a:srgbClr val="2F5597"/>
            </a:solidFill>
            <a:prstDash val="dash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074920" y="5577840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50992" y="5303520"/>
            <a:ext cx="0" cy="27432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15400" y="34290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70264" y="3465576"/>
            <a:ext cx="2313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build is a valid empty index —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insert grows its first leaf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15400" y="4526280"/>
            <a:ext cx="242316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70264" y="4562856"/>
            <a:ext cx="2313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happens in memory: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exercise scale it fits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Bulk Build: the Index Layout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file, block by block</a:t>
            </a:r>
            <a:endParaRPr lang="en-US" sz="1350" dirty="0"/>
          </a:p>
        </p:txBody>
      </p:sp>
      <p:sp>
        <p:nvSpPr>
          <p:cNvPr id="4" name="d0"/>
          <p:cNvSpPr/>
          <p:nvPr/>
        </p:nvSpPr>
        <p:spPr>
          <a:xfrm>
            <a:off x="841248" y="1920240"/>
            <a:ext cx="4572000" cy="585216"/>
          </a:xfrm>
          <a:prstGeom prst="rect">
            <a:avLst>
              <a:gd name="adj" fmla="val 7813"/>
            </a:avLst>
          </a:prstGeom>
          <a:solidFill>
            <a:srgbClr val="F2F2F2"/>
          </a:solidFill>
          <a:ln w="13970">
            <a:solidFill>
              <a:srgbClr val="7671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19751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 · header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23113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root=4 · first leaf=1 · levels=2 · entries=1000</a:t>
            </a:r>
            <a:endParaRPr lang="en-US" sz="1050" dirty="0"/>
          </a:p>
        </p:txBody>
      </p:sp>
      <p:sp>
        <p:nvSpPr>
          <p:cNvPr id="7" name="d1"/>
          <p:cNvSpPr/>
          <p:nvPr/>
        </p:nvSpPr>
        <p:spPr>
          <a:xfrm>
            <a:off x="841248" y="2633472"/>
            <a:ext cx="4572000" cy="585216"/>
          </a:xfrm>
          <a:prstGeom prst="rect">
            <a:avLst>
              <a:gd name="adj" fmla="val 7813"/>
            </a:avLst>
          </a:prstGeom>
          <a:solidFill>
            <a:srgbClr val="FBE5D6"/>
          </a:solidFill>
          <a:ln w="13970">
            <a:solidFill>
              <a:srgbClr val="C55A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6883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leaf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9443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 1…340 · next → 2</a:t>
            </a:r>
            <a:endParaRPr lang="en-US" sz="1050" dirty="0"/>
          </a:p>
        </p:txBody>
      </p:sp>
      <p:sp>
        <p:nvSpPr>
          <p:cNvPr id="10" name="d2"/>
          <p:cNvSpPr/>
          <p:nvPr/>
        </p:nvSpPr>
        <p:spPr>
          <a:xfrm>
            <a:off x="841248" y="3346704"/>
            <a:ext cx="4572000" cy="585216"/>
          </a:xfrm>
          <a:prstGeom prst="rect">
            <a:avLst>
              <a:gd name="adj" fmla="val 7813"/>
            </a:avLst>
          </a:prstGeom>
          <a:solidFill>
            <a:srgbClr val="FBE5D6"/>
          </a:solidFill>
          <a:ln w="13970">
            <a:solidFill>
              <a:srgbClr val="C55A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34015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leaf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36576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 341…680 · next → 3</a:t>
            </a:r>
            <a:endParaRPr lang="en-US" sz="1050" dirty="0"/>
          </a:p>
        </p:txBody>
      </p:sp>
      <p:sp>
        <p:nvSpPr>
          <p:cNvPr id="13" name="d3"/>
          <p:cNvSpPr/>
          <p:nvPr/>
        </p:nvSpPr>
        <p:spPr>
          <a:xfrm>
            <a:off x="841248" y="4059936"/>
            <a:ext cx="4572000" cy="585216"/>
          </a:xfrm>
          <a:prstGeom prst="rect">
            <a:avLst>
              <a:gd name="adj" fmla="val 7813"/>
            </a:avLst>
          </a:prstGeom>
          <a:solidFill>
            <a:srgbClr val="FBE5D6"/>
          </a:solidFill>
          <a:ln w="13970">
            <a:solidFill>
              <a:srgbClr val="C55A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4114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leaf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43708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 681…1000 · next → ∅</a:t>
            </a:r>
            <a:endParaRPr lang="en-US" sz="1050" dirty="0"/>
          </a:p>
        </p:txBody>
      </p:sp>
      <p:sp>
        <p:nvSpPr>
          <p:cNvPr id="16" name="d4"/>
          <p:cNvSpPr/>
          <p:nvPr/>
        </p:nvSpPr>
        <p:spPr>
          <a:xfrm>
            <a:off x="841248" y="4773168"/>
            <a:ext cx="4572000" cy="585216"/>
          </a:xfrm>
          <a:prstGeom prst="rect">
            <a:avLst>
              <a:gd name="adj" fmla="val 7813"/>
            </a:avLst>
          </a:prstGeom>
          <a:solidFill>
            <a:srgbClr val="DAE3F3"/>
          </a:solidFill>
          <a:ln w="1397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4828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separator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508406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 → 2 · 681 → 3 · first child 1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…as the tree sees it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863840" y="2011680"/>
            <a:ext cx="1737360" cy="502920"/>
          </a:xfrm>
          <a:prstGeom prst="roundRect">
            <a:avLst>
              <a:gd name="adj" fmla="val 7273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3520440"/>
            <a:ext cx="155448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1…340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3520440"/>
            <a:ext cx="155448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341…680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38360" y="3520440"/>
            <a:ext cx="155448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681…1000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flipH="1">
            <a:off x="7040880" y="2514600"/>
            <a:ext cx="1371600" cy="1005840"/>
          </a:xfrm>
          <a:prstGeom prst="line">
            <a:avLst/>
          </a:prstGeom>
          <a:noFill/>
          <a:ln w="2222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732520" y="2514600"/>
            <a:ext cx="0" cy="1005840"/>
          </a:xfrm>
          <a:prstGeom prst="line">
            <a:avLst/>
          </a:prstGeom>
          <a:noFill/>
          <a:ln w="2222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52560" y="2514600"/>
            <a:ext cx="1371600" cy="1005840"/>
          </a:xfrm>
          <a:prstGeom prst="line">
            <a:avLst/>
          </a:prstGeom>
          <a:noFill/>
          <a:ln w="2222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086600" y="2880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96528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82980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26680" y="3767328"/>
            <a:ext cx="228600" cy="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509760" y="3767328"/>
            <a:ext cx="228600" cy="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6949440" y="4160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chain — walked forward only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1248" y="5468112"/>
            <a:ext cx="10497312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" y="5513832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int keys at 340 per leaf → 3 leaves (blocks 1–3); their first keys 341 and 681 rise into the separator (block 4), which is the root.  </a:t>
            </a:r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= 2; pages are allocated densely: last block in the header = 4.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Bulk Build: the Code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build() — four named phases, one close (D5, D8)</a:t>
            </a:r>
            <a:endParaRPr lang="en-US" sz="1400" dirty="0"/>
          </a:p>
        </p:txBody>
      </p:sp>
      <p:sp>
        <p:nvSpPr>
          <p:cNvPr id="4" name="codeL"/>
          <p:cNvSpPr/>
          <p:nvPr/>
        </p:nvSpPr>
        <p:spPr>
          <a:xfrm>
            <a:off x="841248" y="1783080"/>
            <a:ext cx="5212080" cy="4343400"/>
          </a:xfrm>
          <a:prstGeom prst="roundRect">
            <a:avLst>
              <a:gd name="adj" fmla="val 126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codeL_code"/>
          <p:cNvSpPr txBox="1"/>
          <p:nvPr/>
        </p:nvSpPr>
        <p:spPr>
          <a:xfrm>
            <a:off x="960120" y="1874520"/>
            <a:ext cx="497433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IsamIndex::build(const std::string&amp; path,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std::vector&lt;std::pair&lt;Column, Rid&gt;&gt;&amp; entries,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std::string&amp;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(!create(path, error))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the close-on-failure dance lives here, once (D8)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std::vector&lt;DataEntry&gt; sorted;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std::vector&lt;FirstKey&gt; leaves;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ok = encode_and_sort(entries, sorted, error) &amp;&amp;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build_leaves(sorted, leaves, error) &amp;&amp;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link_leaf_chain(leaves, 0, error) &amp;&amp;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build_separator_level(std::move(leaves),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(ok)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entry_count_ = sorted.size();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 = write_header(error);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(!ok)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std::string close_error;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close(close_error);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 recursive levels and the chain link (D5)</a:t>
            </a:r>
            <a:endParaRPr lang="en-US" sz="1400" dirty="0"/>
          </a:p>
        </p:txBody>
      </p:sp>
      <p:sp>
        <p:nvSpPr>
          <p:cNvPr id="7" name="codeR"/>
          <p:cNvSpPr/>
          <p:nvPr/>
        </p:nvSpPr>
        <p:spPr>
          <a:xfrm>
            <a:off x="6309360" y="1783080"/>
            <a:ext cx="5029200" cy="4343400"/>
          </a:xfrm>
          <a:prstGeom prst="roundRect">
            <a:avLst>
              <a:gd name="adj" fmla="val 126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codeR_code"/>
          <p:cNvSpPr txBox="1"/>
          <p:nvPr/>
        </p:nvSpPr>
        <p:spPr>
          <a:xfrm>
            <a:off x="6428232" y="1874520"/>
            <a:ext cx="479145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separator level from the pages below, then recurse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IsamIndex::build_separator_level(level,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(level.size() &lt;= 1) {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page: the root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root_ = level.empty() ? kNoPage : level[0].block;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++levels_;   std::vector&lt;FirstKey&gt; next_level;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(chunks of separator_capacity())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alloc_next_block(block, frame,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SeparatorPage page;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page.bind(manager_.frame(frame).buffer, 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page.format();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 = start + 1; i &lt; end; ++i)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K/P pair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page.append({level[i].key, level[i].block}, 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page.set_first_child(level[start].block);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next_level.push_back({level[start].key, block});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build_separator_level(std::move(next_level),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leaf chain, linked forward one leaf per frame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IsamIndex::link_leaf_chain(level, index,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(index + 1 &gt;= level.size()) return true;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pin_leaf(level[index].block, leaf, frame,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leaf.set_next_leaf(level[index + 1].block);  release(…);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link_leaf_chain(level, index + 1,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Lookup: the Operation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1248" y="1645920"/>
            <a:ext cx="310896" cy="310896"/>
          </a:xfrm>
          <a:prstGeom prst="ellipse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1609344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descend: at each separator, take the child after the last key strictly below the search key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41248" y="2834640"/>
            <a:ext cx="310896" cy="310896"/>
          </a:xfrm>
          <a:prstGeom prst="ellipse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798064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leaf: binary-search lower_bound, collect every equal key — plus each overflow page’s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4343400"/>
            <a:ext cx="310896" cy="310896"/>
          </a:xfrm>
          <a:prstGeom prst="ellipse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4306824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into the next leaf while its first key is ≤ the target: duplicates can span leaves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46920" y="178308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01784" y="1819656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500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548640" cy="502920"/>
          </a:xfrm>
          <a:prstGeom prst="rect">
            <a:avLst/>
          </a:prstGeom>
          <a:solidFill>
            <a:srgbClr val="DAE3F3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0" y="2377440"/>
            <a:ext cx="640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377440"/>
            <a:ext cx="548640" cy="502920"/>
          </a:xfrm>
          <a:prstGeom prst="rect">
            <a:avLst/>
          </a:prstGeom>
          <a:solidFill>
            <a:srgbClr val="DAE3F3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21040" y="2377440"/>
            <a:ext cx="640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0" y="2377440"/>
            <a:ext cx="548640" cy="502920"/>
          </a:xfrm>
          <a:prstGeom prst="rect">
            <a:avLst/>
          </a:prstGeom>
          <a:solidFill>
            <a:srgbClr val="DAE3F3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40680" y="3703320"/>
            <a:ext cx="173736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1…340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98080" y="3703320"/>
            <a:ext cx="1737360" cy="502920"/>
          </a:xfrm>
          <a:prstGeom prst="roundRect">
            <a:avLst>
              <a:gd name="adj" fmla="val 7273"/>
            </a:avLst>
          </a:prstGeom>
          <a:solidFill>
            <a:srgbClr val="ED7D31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341…680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555480" y="3703320"/>
            <a:ext cx="173736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681…1000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H="1">
            <a:off x="6309360" y="2880360"/>
            <a:ext cx="548640" cy="82296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78040" y="2880360"/>
            <a:ext cx="1143000" cy="822960"/>
          </a:xfrm>
          <a:prstGeom prst="line">
            <a:avLst/>
          </a:prstGeom>
          <a:noFill/>
          <a:ln w="3810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35240" y="2880360"/>
            <a:ext cx="2697480" cy="82296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78040" y="3950208"/>
            <a:ext cx="320040" cy="0"/>
          </a:xfrm>
          <a:prstGeom prst="line">
            <a:avLst/>
          </a:prstGeom>
          <a:noFill/>
          <a:ln w="15875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35440" y="3950208"/>
            <a:ext cx="320040" cy="0"/>
          </a:xfrm>
          <a:prstGeom prst="line">
            <a:avLst/>
          </a:prstGeom>
          <a:noFill/>
          <a:ln w="15875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98080" y="44348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52944" y="447141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found → rid (2, 17)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120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separator’s K/P pairs route the descent;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leaf chain carries the walker forward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Lookup: the Index Layout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 page (int keys)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901952"/>
            <a:ext cx="100584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47088" y="1901952"/>
            <a:ext cx="685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32888" y="1901952"/>
            <a:ext cx="777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10128" y="1901952"/>
            <a:ext cx="685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95928" y="1901952"/>
            <a:ext cx="777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73168" y="1901952"/>
            <a:ext cx="1691640" cy="502920"/>
          </a:xfrm>
          <a:prstGeom prst="rect">
            <a:avLst/>
          </a:prstGeom>
          <a:solidFill>
            <a:srgbClr val="DAE3F3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child → L1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52374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sep[i] is the first key of the child it routes to — the page stores (sep[i], child[i+1]) pairs plus its first child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3227832"/>
            <a:ext cx="114300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340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84248" y="3227832"/>
            <a:ext cx="1005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→ L3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90088" y="3227832"/>
            <a:ext cx="868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ovf → ∅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58768" y="3227832"/>
            <a:ext cx="1188720" cy="50292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341|(1,0)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47488" y="3227832"/>
            <a:ext cx="1188720" cy="50292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341|(0,9)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36208" y="3227832"/>
            <a:ext cx="411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47688" y="3227832"/>
            <a:ext cx="1188720" cy="502920"/>
          </a:xfrm>
          <a:prstGeom prst="rect">
            <a:avLst/>
          </a:prstGeom>
          <a:solidFill>
            <a:srgbClr val="FBE5D6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680|(4,2)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384962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(key, rid) entries; the two 341s show duplicates sitting side by side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" y="4343400"/>
            <a:ext cx="10497312" cy="1691640"/>
          </a:xfrm>
          <a:prstGeom prst="roundRect">
            <a:avLst>
              <a:gd name="adj" fmla="val 2703"/>
            </a:avLst>
          </a:prstGeom>
          <a:solidFill>
            <a:srgbClr val="DAE3F3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262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Descent: the child after the last separator STRICTLY less than the key — the leftmost leaf that may hold it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Strictness matters: equal keys can lag one leaf behind their separator, so a ≤ rule would overshoot the leftmost duplicates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walk forward: lookup continues into the next leaf while its first key is ≤ the target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Lookup: the Code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descend() → descend_from() — recursion (D2)</a:t>
            </a:r>
            <a:endParaRPr lang="en-US" sz="1400" dirty="0"/>
          </a:p>
        </p:txBody>
      </p:sp>
      <p:sp>
        <p:nvSpPr>
          <p:cNvPr id="4" name="codeL"/>
          <p:cNvSpPr/>
          <p:nvPr/>
        </p:nvSpPr>
        <p:spPr>
          <a:xfrm>
            <a:off x="841248" y="1783080"/>
            <a:ext cx="5212080" cy="4343400"/>
          </a:xfrm>
          <a:prstGeom prst="roundRect">
            <a:avLst>
              <a:gd name="adj" fmla="val 126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codeL_code"/>
          <p:cNvSpPr txBox="1"/>
          <p:nvPr/>
        </p:nvSpPr>
        <p:spPr>
          <a:xfrm>
            <a:off x="960120" y="1874520"/>
            <a:ext cx="497433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std::uint32_t IsamIndex::descend(const char* key_bytes,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std::string&amp;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(root_ == kNoPage)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kNoPage;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empty index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levels_ - 1 separator pages to cross, then a leaf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descend_from(root_, levels_ - 1, key_bytes,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pin one separator, take its child, recurse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std::uint32_t IsamIndex::descend_from(std::uint32_t block,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std::uint32_t levels_remaining,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char* key_bytes, std::string&amp;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(levels_remaining == 0)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block;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landing leaf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frame = 0;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SeparatorPage page;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(!pin_separator(block, page, frame, error))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kNoPage;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std::uint32_t child =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page.descend_step(key_bytes, codec_);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release(manager_, frame, false);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descend_from(child, levels_remaining - 1,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key_bytes,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lookup() and its leaf-chain walker (D3, D4)</a:t>
            </a:r>
            <a:endParaRPr lang="en-US" sz="1400" dirty="0"/>
          </a:p>
        </p:txBody>
      </p:sp>
      <p:sp>
        <p:nvSpPr>
          <p:cNvPr id="7" name="codeR"/>
          <p:cNvSpPr/>
          <p:nvPr/>
        </p:nvSpPr>
        <p:spPr>
          <a:xfrm>
            <a:off x="6309360" y="1783080"/>
            <a:ext cx="5029200" cy="4343400"/>
          </a:xfrm>
          <a:prstGeom prst="roundRect">
            <a:avLst>
              <a:gd name="adj" fmla="val 126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codeR_code"/>
          <p:cNvSpPr txBox="1"/>
          <p:nvPr/>
        </p:nvSpPr>
        <p:spPr>
          <a:xfrm>
            <a:off x="6428232" y="1874520"/>
            <a:ext cx="479145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IsamIndex::lookup(const Column&amp; key,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std::vector&lt;Rid&gt;&amp; out, std::string&amp;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std::string key_bytes(codec_.width(), '\0');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codec_.encode(key, key_bytes.data(),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std::uint32_t landing =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descend(key_bytes.data(),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scan_leaf_chain(landing, key_bytes, out,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leaf chain: scan, overflow, then the step-guard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IsamIndex::scan_leaf_chain(block, key, out,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(block == kNoPage) return true;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 ended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LeafPage leaf;  pin_leaf(block, leaf, frame,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collect_equals(leaf, codec_, key, out);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shared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next_leaf = leaf.next_leaf();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ovf = leaf.first_overflow();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release(manager_, frame, false);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(!scan_overflow_chain(ovf, key, out, error))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continue while the next leaf still reaches the key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 pin the next leaf; may_continue = first ≤ target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(!may_continue) return true;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scan_leaf_chain(next_leaf, key, out,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Range Scan: the Operation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503920" y="160020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E2EFDA"/>
          </a:solidFill>
          <a:ln w="9525">
            <a:solidFill>
              <a:srgbClr val="5482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58784" y="1636776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pid &gt; 400 AND pid &lt; 750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806440" y="164592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40480" y="274320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1…340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806440" y="274320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ED7D31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341…680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0" y="274320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ED7D31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681…1000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flipH="1">
            <a:off x="4846320" y="2057400"/>
            <a:ext cx="1417320" cy="68580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92240" y="2057400"/>
            <a:ext cx="91440" cy="685800"/>
          </a:xfrm>
          <a:prstGeom prst="line">
            <a:avLst/>
          </a:prstGeom>
          <a:noFill/>
          <a:ln w="317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20840" y="2057400"/>
            <a:ext cx="1783080" cy="68580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32120" y="2990088"/>
            <a:ext cx="274320" cy="0"/>
          </a:xfrm>
          <a:prstGeom prst="line">
            <a:avLst/>
          </a:prstGeom>
          <a:noFill/>
          <a:ln w="15875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98080" y="2990088"/>
            <a:ext cx="274320" cy="0"/>
          </a:xfrm>
          <a:prstGeom prst="line">
            <a:avLst/>
          </a:prstGeom>
          <a:noFill/>
          <a:ln w="15875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840480" y="3520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emit: L2’s tail above 400, then L3’s head below 750 — overflow chains merged 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4297680"/>
            <a:ext cx="3291840" cy="822960"/>
          </a:xfrm>
          <a:prstGeom prst="roundRect">
            <a:avLst>
              <a:gd name="adj" fmla="val 4444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descend on the lower bound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lo → the first leaf)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53128" y="4297680"/>
            <a:ext cx="3291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every entry inside the bounds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(duplicates stay adjacent)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65008" y="4297680"/>
            <a:ext cx="32918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the next leaf starts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upper bound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33088" y="4709160"/>
            <a:ext cx="320040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44968" y="4709160"/>
            <a:ext cx="320040" cy="0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841248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 is the leaf chain plus each leaf’s overflow chain — the separators are never touched again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Range Scan: the Index Layout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1248" y="1828800"/>
            <a:ext cx="2286000" cy="640080"/>
          </a:xfrm>
          <a:prstGeom prst="roundRect">
            <a:avLst>
              <a:gd name="adj" fmla="val 5714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1…340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584448" y="1828800"/>
            <a:ext cx="2286000" cy="640080"/>
          </a:xfrm>
          <a:prstGeom prst="roundRect">
            <a:avLst>
              <a:gd name="adj" fmla="val 5714"/>
            </a:avLst>
          </a:prstGeom>
          <a:solidFill>
            <a:srgbClr val="ED7D31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341…680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27648" y="1828800"/>
            <a:ext cx="2286000" cy="640080"/>
          </a:xfrm>
          <a:prstGeom prst="roundRect">
            <a:avLst>
              <a:gd name="adj" fmla="val 5714"/>
            </a:avLst>
          </a:prstGeom>
          <a:solidFill>
            <a:srgbClr val="ED7D31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681…1000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070848" y="1828800"/>
            <a:ext cx="2286000" cy="640080"/>
          </a:xfrm>
          <a:prstGeom prst="roundRect">
            <a:avLst>
              <a:gd name="adj" fmla="val 5714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1001…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27248" y="2148840"/>
            <a:ext cx="457200" cy="0"/>
          </a:xfrm>
          <a:prstGeom prst="line">
            <a:avLst/>
          </a:prstGeom>
          <a:noFill/>
          <a:ln w="22225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870448" y="2148840"/>
            <a:ext cx="457200" cy="0"/>
          </a:xfrm>
          <a:prstGeom prst="line">
            <a:avLst/>
          </a:prstGeom>
          <a:noFill/>
          <a:ln w="22225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13648" y="2148840"/>
            <a:ext cx="457200" cy="0"/>
          </a:xfrm>
          <a:prstGeom prst="line">
            <a:avLst/>
          </a:prstGeom>
          <a:noFill/>
          <a:ln w="22225">
            <a:solidFill>
              <a:srgbClr val="C55A11"/>
            </a:solidFill>
            <a:prstDash val="dash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639312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13048" y="283464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 w="15875">
            <a:solidFill>
              <a:srgbClr val="7671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8888" y="283464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 w="15875">
            <a:solidFill>
              <a:srgbClr val="7671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flipH="1">
            <a:off x="4297680" y="2468880"/>
            <a:ext cx="429768" cy="365760"/>
          </a:xfrm>
          <a:prstGeom prst="line">
            <a:avLst/>
          </a:prstGeom>
          <a:noFill/>
          <a:ln w="19050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36008" y="3035808"/>
            <a:ext cx="182880" cy="0"/>
          </a:xfrm>
          <a:prstGeom prst="line">
            <a:avLst/>
          </a:prstGeom>
          <a:noFill/>
          <a:ln w="15875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556248" y="283464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 w="15875">
            <a:solidFill>
              <a:srgbClr val="7671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H="1">
            <a:off x="7040880" y="2468880"/>
            <a:ext cx="429768" cy="365760"/>
          </a:xfrm>
          <a:prstGeom prst="line">
            <a:avLst/>
          </a:prstGeom>
          <a:noFill/>
          <a:ln w="19050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97764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overflow page is one sorted run of the leaf’s spill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" y="4069080"/>
            <a:ext cx="10497312" cy="1965960"/>
          </a:xfrm>
          <a:prstGeom prst="roundRect">
            <a:avLst>
              <a:gd name="adj" fmla="val 2326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25196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visited leaf is merged with its overflow chain, stable-sorted, then filtered by the bounds — a merge of sorted runs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stays in key order: duplicates adjacent, rids straight from the entries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are optional: no lower bound starts at the first leaf; no upper bound walks to the end of the chain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 stops at the first leaf whose first key is beyond hi — ranges never scan the whole chain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Range Scan: the Code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— bounds, start, walk (D3)</a:t>
            </a:r>
            <a:endParaRPr lang="en-US" sz="1400" dirty="0"/>
          </a:p>
        </p:txBody>
      </p:sp>
      <p:sp>
        <p:nvSpPr>
          <p:cNvPr id="4" name="codeL"/>
          <p:cNvSpPr/>
          <p:nvPr/>
        </p:nvSpPr>
        <p:spPr>
          <a:xfrm>
            <a:off x="841248" y="1783080"/>
            <a:ext cx="5212080" cy="4343400"/>
          </a:xfrm>
          <a:prstGeom prst="roundRect">
            <a:avLst>
              <a:gd name="adj" fmla="val 126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codeL_code"/>
          <p:cNvSpPr txBox="1"/>
          <p:nvPr/>
        </p:nvSpPr>
        <p:spPr>
          <a:xfrm>
            <a:off x="960120" y="1874520"/>
            <a:ext cx="497433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IsamIndex::range(const std::optional&lt;RangeBound&gt;&amp; lo,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std::optional&lt;RangeBound&gt;&amp; hi,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std::vector&lt;Rid&gt;&amp; out, std::string&amp;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(first_leaf_ == kNoPage) return true;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empty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std::string lo_bytes, hi_bytes;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encode once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(lo) codec_.encode(lo-&gt;value, 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(hi) codec_.encode(hi-&gt;value, 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RangeWalk walk;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walk context: bounds + out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walk.lo_bytes = lo ? &amp;lo_bytes : nullptr;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walk.lo_inclusive = lo &amp;&amp; lo-&gt;inclusive;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walk.hi_bytes = hi ? &amp;hi_bytes : nullptr;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walk.hi_inclusive = hi &amp;&amp; hi-&gt;inclusive;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walk.out = &amp;out;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std::uint32_t current = first_leaf_;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(lo) current = descend(lo_bytes.data(),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scan_leaf_range(current, walk,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per-leaf step and the walk (D3)</a:t>
            </a:r>
            <a:endParaRPr lang="en-US" sz="1400" dirty="0"/>
          </a:p>
        </p:txBody>
      </p:sp>
      <p:sp>
        <p:nvSpPr>
          <p:cNvPr id="7" name="codeR"/>
          <p:cNvSpPr/>
          <p:nvPr/>
        </p:nvSpPr>
        <p:spPr>
          <a:xfrm>
            <a:off x="6309360" y="1783080"/>
            <a:ext cx="5029200" cy="4343400"/>
          </a:xfrm>
          <a:prstGeom prst="roundRect">
            <a:avLst>
              <a:gd name="adj" fmla="val 126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codeR_code"/>
          <p:cNvSpPr txBox="1"/>
          <p:nvPr/>
        </p:nvSpPr>
        <p:spPr>
          <a:xfrm>
            <a:off x="6428232" y="1874520"/>
            <a:ext cx="479145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leaf: merge with its overflow runs, sort, filter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IsamIndex::emit_leaf_range(block, walk, next, err)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pin_leaf(block, leaf, frame,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std::vector&lt;DataEntry&gt; merged;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leaf entries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 = 0; i &lt; leaf.count(); ++i)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merged.push_back(leaf.get_entry(i));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next_leaf = leaf.next_leaf();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release(manager_, frame, false);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gather_overflow_chain(ovf, merged, error);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std::stable_sort(merged.begin(), merged.end(), key);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(entry : merged)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(inside the lo/hi bounds)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walk.out-&gt;push_back(entry.rid);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walk: stop when the next leaf starts beyond hi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IsamIndex::scan_leaf_range(block, walk,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(block == kNoPage) return true;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 ended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emit_leaf_range(block, walk, next_leaf,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(next_leaf == kNoPage) return true;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 pin the next leaf; beyond = first key &gt; hi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(beyond) return true;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scan_leaf_range(next_leaf, walk,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Insert: the Operation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41248" y="1554480"/>
            <a:ext cx="51206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5875">
            <a:solidFill>
              <a:srgbClr val="2F559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— the leaf has room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08760" y="2606040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40280" y="2606040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71800" y="2606040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03320" y="2606040"/>
            <a:ext cx="1280160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340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sorted insert, tail memmoved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70332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08760" y="3703320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40280" y="3703320"/>
            <a:ext cx="731520" cy="457200"/>
          </a:xfrm>
          <a:prstGeom prst="rect">
            <a:avLst/>
          </a:prstGeom>
          <a:solidFill>
            <a:srgbClr val="E2EFDA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71800" y="3703320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03320" y="3703320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434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 the frozen separators to the owning leaf</a:t>
            </a:r>
            <a:endParaRPr lang="en-US" sz="13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insert_entry() keeps the page sorted</a:t>
            </a:r>
            <a:endParaRPr lang="en-US" sz="13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separators and other leaves: untouched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51206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5875">
            <a:solidFill>
              <a:srgbClr val="C55A1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8232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— the leaf is full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260604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full (340)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48472" y="260604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7671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82712" y="2834640"/>
            <a:ext cx="365760" cy="0"/>
          </a:xfrm>
          <a:prstGeom prst="line">
            <a:avLst/>
          </a:prstGeom>
          <a:noFill/>
          <a:ln w="15875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428232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new overflow page at the FRONT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28232" y="402336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91272" y="402336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new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54312" y="402336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7671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34072" y="4251960"/>
            <a:ext cx="457200" cy="0"/>
          </a:xfrm>
          <a:prstGeom prst="line">
            <a:avLst/>
          </a:prstGeom>
          <a:noFill/>
          <a:ln w="15875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97112" y="4251960"/>
            <a:ext cx="457200" cy="0"/>
          </a:xfrm>
          <a:prstGeom prst="line">
            <a:avLst/>
          </a:prstGeom>
          <a:noFill/>
          <a:ln w="15875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428232" y="47091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overflow page with room wins</a:t>
            </a:r>
            <a:endParaRPr lang="en-US" sz="13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none? allocate one, chain at the FRONT, re-point first_overflow</a:t>
            </a:r>
            <a:endParaRPr lang="en-US" sz="13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separators: byte-for-byte frozen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Insert: the Index Layout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63040" y="1783080"/>
            <a:ext cx="2926080" cy="640080"/>
          </a:xfrm>
          <a:prstGeom prst="roundRect">
            <a:avLst>
              <a:gd name="adj" fmla="val 5714"/>
            </a:avLst>
          </a:prstGeom>
          <a:solidFill>
            <a:srgbClr val="ED7D31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full (340 entries)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737360" y="2971800"/>
            <a:ext cx="2377440" cy="59436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9050">
            <a:solidFill>
              <a:srgbClr val="C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— new front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37360" y="3977640"/>
            <a:ext cx="2377440" cy="59436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5875">
            <a:solidFill>
              <a:srgbClr val="7671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— older spill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2423160"/>
            <a:ext cx="0" cy="548640"/>
          </a:xfrm>
          <a:prstGeom prst="line">
            <a:avLst/>
          </a:prstGeom>
          <a:noFill/>
          <a:ln w="25400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320040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first_overflow = O2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566160"/>
            <a:ext cx="0" cy="411480"/>
          </a:xfrm>
          <a:prstGeom prst="line">
            <a:avLst/>
          </a:prstGeom>
          <a:noFill/>
          <a:ln w="25400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20040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6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next_overflow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846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500 lands in O2; the chain answers as one merge of sorted runs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78308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ids come from the header’s last block + 1 — never from the on-disk block count (dirty pages lag the disk)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stay sorted per page: each leaf’s answer remains a merge of sorted runs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header’s entry count updates with every insert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never split — nothing above them ever moves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" y="534924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DAE3F3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542239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means frozen: 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 number of inserts, every separator page is byte-for-byte what build() wrote — the check suite diffs the bytes.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Insert: the Code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 — the public shape (D6)</a:t>
            </a:r>
            <a:endParaRPr lang="en-US" sz="1400" dirty="0"/>
          </a:p>
        </p:txBody>
      </p:sp>
      <p:sp>
        <p:nvSpPr>
          <p:cNvPr id="4" name="codeL"/>
          <p:cNvSpPr/>
          <p:nvPr/>
        </p:nvSpPr>
        <p:spPr>
          <a:xfrm>
            <a:off x="841248" y="1783080"/>
            <a:ext cx="5212080" cy="4343400"/>
          </a:xfrm>
          <a:prstGeom prst="roundRect">
            <a:avLst>
              <a:gd name="adj" fmla="val 126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codeL_code"/>
          <p:cNvSpPr txBox="1"/>
          <p:nvPr/>
        </p:nvSpPr>
        <p:spPr>
          <a:xfrm>
            <a:off x="960120" y="1874520"/>
            <a:ext cx="497433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IsamIndex::insert(const Column&amp; key,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Rid rid, std::string&amp;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std::string key_bytes(codec_.width(), '\0');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codec_.encode(key, key_bytes.data(),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an empty index grows its first leaf = the root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(root_ == kNoPage)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alloc_next_block(block, frame, error);  LeafPage leaf;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leaf.bind(manager_.frame(frame).buffer, 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leaf.format(kNoPage, kNoPage);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leaf.insert_entry({key_bytes, rid}, 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release(manager_, frame, true);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dirty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root_ = first_leaf_ = block;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levels_ = 1;   entry_count_ = 1;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write_header(error);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leaf_block = descend(key_bytes.data(),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pin_leaf(leaf_block, leaf, frame,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(leaf.count() &lt; leaf.capacity())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room: sorted insert in place, tail memmoved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leaf.insert_entry({key_bytes, rid}, 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release(manager_, frame, true);  entry_count_ += 1;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write_header(error);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chain = leaf.first_overflow();  release(…);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insert_into_overflow(leaf_block, chain,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key_bytes, rid,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insert_into_overflow() — the spill (D6)</a:t>
            </a:r>
            <a:endParaRPr lang="en-US" sz="1400" dirty="0"/>
          </a:p>
        </p:txBody>
      </p:sp>
      <p:sp>
        <p:nvSpPr>
          <p:cNvPr id="7" name="codeR"/>
          <p:cNvSpPr/>
          <p:nvPr/>
        </p:nvSpPr>
        <p:spPr>
          <a:xfrm>
            <a:off x="6309360" y="1783080"/>
            <a:ext cx="5029200" cy="4343400"/>
          </a:xfrm>
          <a:prstGeom prst="roundRect">
            <a:avLst>
              <a:gd name="adj" fmla="val 126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codeR_code"/>
          <p:cNvSpPr txBox="1"/>
          <p:nvPr/>
        </p:nvSpPr>
        <p:spPr>
          <a:xfrm>
            <a:off x="6428232" y="1874520"/>
            <a:ext cx="479145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spill: first overflow page with room, else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front-chain. find_overflow_with_room is tail-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recursive: pin, test, unpin, recurse; kNoPage = full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IsamIndex::insert_into_overflow(leaf_block,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chain, key_bytes, rid,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std::uint32_t target =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find_overflow_with_room(chain,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(target != kNoPage) {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into that page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pin_overflow(target, page, target_frame,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page.insert_entry({key_bytes, rid}, 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release(manager_, target_frame, true);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entry_count_ += 1;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write_header(error);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none has room: a new page takes the FRONT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alloc_next_block(new_block, new_frame,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OverflowPage page;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page.bind(manager_.frame(new_frame).buffer, 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page.format(chain);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next = the old front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page.insert_entry({key_bytes, rid}, …);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release(manager_, new_frame, true);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pin_leaf(leaf_block, link, …);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re-point the leaf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link.set_first_overflow(new_block);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release(manager_, link_frame, true);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entry_count_ += 1;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write_header(error);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Verify: the Operation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1248" y="182880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70048" y="182880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25400">
            <a:solidFill>
              <a:srgbClr val="C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98848" y="182880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12848" y="2075688"/>
            <a:ext cx="457200" cy="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41648" y="2075688"/>
            <a:ext cx="457200" cy="0"/>
          </a:xfrm>
          <a:prstGeom prst="line">
            <a:avLst/>
          </a:prstGeom>
          <a:noFill/>
          <a:ln w="190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98648" y="278892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76717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55848" y="2331720"/>
            <a:ext cx="0" cy="457200"/>
          </a:xfrm>
          <a:prstGeom prst="line">
            <a:avLst/>
          </a:prstGeom>
          <a:noFill/>
          <a:ln w="19050">
            <a:solidFill>
              <a:srgbClr val="767171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377440" y="23957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keys</a:t>
            </a:r>
            <a:endParaRPr lang="en-US" sz="1000" dirty="0"/>
          </a:p>
        </p:txBody>
      </p:sp>
      <p:sp>
        <p:nvSpPr>
          <p:cNvPr id="11" name="heap"/>
          <p:cNvSpPr/>
          <p:nvPr/>
        </p:nvSpPr>
        <p:spPr>
          <a:xfrm>
            <a:off x="841248" y="4206240"/>
            <a:ext cx="201168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279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page 3</a:t>
            </a:r>
            <a:endParaRPr lang="en-US" sz="1050" dirty="0"/>
          </a:p>
        </p:txBody>
      </p:sp>
      <p:sp>
        <p:nvSpPr>
          <p:cNvPr id="13" name="slot0"/>
          <p:cNvSpPr/>
          <p:nvPr/>
        </p:nvSpPr>
        <p:spPr>
          <a:xfrm>
            <a:off x="1024128" y="4572000"/>
            <a:ext cx="1645920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slot1"/>
          <p:cNvSpPr/>
          <p:nvPr/>
        </p:nvSpPr>
        <p:spPr>
          <a:xfrm>
            <a:off x="1024128" y="4873752"/>
            <a:ext cx="16459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slot2"/>
          <p:cNvSpPr/>
          <p:nvPr/>
        </p:nvSpPr>
        <p:spPr>
          <a:xfrm>
            <a:off x="1024128" y="5175504"/>
            <a:ext cx="1645920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910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1: empty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flipH="1">
            <a:off x="2377440" y="3246120"/>
            <a:ext cx="640080" cy="960120"/>
          </a:xfrm>
          <a:prstGeom prst="line">
            <a:avLst/>
          </a:prstGeom>
          <a:noFill/>
          <a:ln w="22225">
            <a:solidFill>
              <a:srgbClr val="C00000"/>
            </a:solidFill>
            <a:prstDash val="dash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291840" y="4572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 that names an empty slot is dangling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findings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0" y="219456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9984" y="2231136"/>
            <a:ext cx="4553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 2: entries out of order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near key 87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0" y="301752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9984" y="3054096"/>
            <a:ext cx="4553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dangling entry: key 42 rid (3, 7)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75120" y="36576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9984" y="3694176"/>
            <a:ext cx="4553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walked 998 entries, the header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claims 1000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verify() walks every leaf and every overflow page and judges each rid through a caller-supplied occupancy callback.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Verify: the Index Layout</a:t>
            </a:r>
            <a:endParaRPr lang="en-US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91640"/>
          <a:ext cx="104973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40965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55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checked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55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55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named 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entries sorted within the 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leaf and overflow 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2: entries out of order near key 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leaf-chain key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keys across the leaf 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chain out of key order at leaf 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 occupancy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entry, via the caller’s callback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dangling entry: key 42 rid (3, 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walked total vs header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whole walk, then compared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walked 998 entries, the header claims 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1248" y="4709160"/>
            <a:ext cx="10497312" cy="1371600"/>
          </a:xfrm>
          <a:prstGeom prst="roundRect">
            <a:avLst>
              <a:gd name="adj" fmla="val 3333"/>
            </a:avLst>
          </a:prstGeom>
          <a:solidFill>
            <a:srgbClr val="FBE5D6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480060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deliberate hole: 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keys are NOT ordered against their leaf. An insert into a full leaf spills regardless of value, so 6 can legally sit behind a leaf ending in 9 — a cross-structure check would flag legal data as corruption.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Verify: the Code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verify() — walk, then compare totals (D7)</a:t>
            </a:r>
            <a:endParaRPr lang="en-US" sz="1400" dirty="0"/>
          </a:p>
        </p:txBody>
      </p:sp>
      <p:sp>
        <p:nvSpPr>
          <p:cNvPr id="4" name="codeL"/>
          <p:cNvSpPr/>
          <p:nvPr/>
        </p:nvSpPr>
        <p:spPr>
          <a:xfrm>
            <a:off x="841248" y="1783080"/>
            <a:ext cx="5212080" cy="4343400"/>
          </a:xfrm>
          <a:prstGeom prst="roundRect">
            <a:avLst>
              <a:gd name="adj" fmla="val 126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codeL_code"/>
          <p:cNvSpPr txBox="1"/>
          <p:nvPr/>
        </p:nvSpPr>
        <p:spPr>
          <a:xfrm>
            <a:off x="960120" y="1874520"/>
            <a:ext cx="497433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check_entries(page, label, …): the shared per-entry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 — sortedness + dangling rids, any EntryPage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IsamIndex::verify(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std::function&lt;bool(const Rid&amp;)&gt;&amp; occupied,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std::size_t&amp; entry_count,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std::vector&lt;std::string&gt;&amp; findings,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std::string&amp;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entry_count = 0;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findings.clear();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(!open_) { error = "index is not open"; …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VerifyWalk walk{occupied, findings, entry_count};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(!verify_leaf_chain(first_leaf_, "", false,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walk, error))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(entry_count != entry_count_)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findings.push_back("walked " + std::to_string(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entry_count) + " entries, the header claims 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 std::to_string(entry_count_));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leaf-chain walk and its overflow arm (D7)</a:t>
            </a:r>
            <a:endParaRPr lang="en-US" sz="1400" dirty="0"/>
          </a:p>
        </p:txBody>
      </p:sp>
      <p:sp>
        <p:nvSpPr>
          <p:cNvPr id="7" name="codeR"/>
          <p:cNvSpPr/>
          <p:nvPr/>
        </p:nvSpPr>
        <p:spPr>
          <a:xfrm>
            <a:off x="6309360" y="1783080"/>
            <a:ext cx="5029200" cy="4343400"/>
          </a:xfrm>
          <a:prstGeom prst="roundRect">
            <a:avLst>
              <a:gd name="adj" fmla="val 126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codeR_code"/>
          <p:cNvSpPr txBox="1"/>
          <p:nvPr/>
        </p:nvSpPr>
        <p:spPr>
          <a:xfrm>
            <a:off x="6428232" y="1874520"/>
            <a:ext cx="479145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leaf per frame; carry the chain order forward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IsamIndex::verify_leaf_chain(block, previous_key,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has_previous, walk,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(block == kNoPage) return true;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 ended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LeafPage leaf;  pin_leaf(block, leaf, frame,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walk.entry_count += check_entries(leaf, codec_,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"leaf " + std::to_string(block),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walk.occupied, walk.findings);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(has_previous)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key may precede the last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… chain-order finding vs previous_key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 remember this leaf’s last key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release(manager_, frame, false);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(!verify_overflow_chain(ovf, walk, error))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verify_leaf_chain(next_leaf, last_key,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has_last, walk,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48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overflow arm: check_entries + recurse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IsamIndex::verify_overflow_chain(block, walk, error)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(block == kNoPage) return true;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 check_entries(page, "overflow " + id, …)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verify_overflow_chain(page.next_overflow(),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walk, error);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Page-View Discipline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1248" y="1691640"/>
            <a:ext cx="42976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pin(file, block) → frame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2295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buffer manager pins the block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2258568"/>
            <a:ext cx="0" cy="484632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841248" y="2743200"/>
            <a:ext cx="42976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view.bind(frame.buffer, key_width)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346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wraps the frame’s bytes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310128"/>
            <a:ext cx="0" cy="484632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41248" y="3794760"/>
            <a:ext cx="4297680" cy="566928"/>
          </a:xfrm>
          <a:prstGeom prst="roundRect">
            <a:avLst>
              <a:gd name="adj" fmla="val 6452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/ attach / insert_entry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4398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validates count ≤ capacity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4361688"/>
            <a:ext cx="0" cy="484632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41248" y="4846320"/>
            <a:ext cx="429768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release(frame, dirty)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5449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unpin — pin windows stay one page long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182880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are non-owning: bound to a pinned frame’s buffer, never to a copy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format() and attach() are the only writers of structural fields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stored count that exceeds capacity is corrupted or foreign bytes — a hard error, exactly like SlottedPage::attach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 over one discipline: SeparatorPage, LeafPage (via EntryPage), OverflowPage</a:t>
            </a:r>
            <a:endParaRPr lang="en-US" sz="1500" dirty="0"/>
          </a:p>
          <a:p>
            <a:pPr marL="152400" indent="-1524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bool + a named message, cleared on entry — the ex11 house convention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One Operation, One Recursion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554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is now a public function plus small recursive workers — one structure per worker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2057400"/>
            <a:ext cx="1234440" cy="548640"/>
          </a:xfrm>
          <a:prstGeom prst="roundRect">
            <a:avLst>
              <a:gd name="adj" fmla="val 6667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12848" y="2057400"/>
            <a:ext cx="4434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descend_from · scan_leaf_chain · scan_overflow_chain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41248" y="2807208"/>
            <a:ext cx="1234440" cy="548640"/>
          </a:xfrm>
          <a:prstGeom prst="roundRect">
            <a:avLst>
              <a:gd name="adj" fmla="val 6667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12848" y="2807208"/>
            <a:ext cx="4434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scan_leaf_range · emit_leaf_range · gather_overflow_chain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557016"/>
            <a:ext cx="1234440" cy="548640"/>
          </a:xfrm>
          <a:prstGeom prst="roundRect">
            <a:avLst>
              <a:gd name="adj" fmla="val 6667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12848" y="3557016"/>
            <a:ext cx="4434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find_overflow_with_room · insert_into_overflow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4306824"/>
            <a:ext cx="1234440" cy="548640"/>
          </a:xfrm>
          <a:prstGeom prst="roundRect">
            <a:avLst>
              <a:gd name="adj" fmla="val 6667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12848" y="4306824"/>
            <a:ext cx="4434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verify_leaf_chain · verify_overflow_chain (+ check_entries)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5056632"/>
            <a:ext cx="1234440" cy="548640"/>
          </a:xfrm>
          <a:prstGeom prst="roundRect">
            <a:avLst>
              <a:gd name="adj" fmla="val 6667"/>
            </a:avLst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12848" y="5056632"/>
            <a:ext cx="4434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encode_and_sort · build_leaves · link_leaf_chain · build_separator_level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5897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cases are named: kNoPage ends a chain · levels_remaining == 0 lands on the leaf · level.size() &lt;= 1 is the root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in every worker (D9)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2468880"/>
            <a:ext cx="27432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one page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21040" y="2944368"/>
            <a:ext cx="0" cy="237744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949440" y="3182112"/>
            <a:ext cx="27432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the view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21040" y="3657600"/>
            <a:ext cx="0" cy="237744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949440" y="3895344"/>
            <a:ext cx="27432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unpin the frame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21040" y="4370832"/>
            <a:ext cx="0" cy="237744"/>
          </a:xfrm>
          <a:prstGeom prst="line">
            <a:avLst/>
          </a:prstGeom>
          <a:noFill/>
          <a:ln w="222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949440" y="4608576"/>
            <a:ext cx="2743200" cy="475488"/>
          </a:xfrm>
          <a:prstGeom prst="roundRect">
            <a:avLst>
              <a:gd name="adj" fmla="val 7692"/>
            </a:avLst>
          </a:prstGeom>
          <a:solidFill>
            <a:srgbClr val="E2EFDA"/>
          </a:solidFill>
          <a:ln w="15875">
            <a:solidFill>
              <a:srgbClr val="54823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 (or return)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921240" y="2468880"/>
            <a:ext cx="1463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 is ever held across a recursive call</a:t>
            </a:r>
            <a:endParaRPr lang="en-US" sz="105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byte-identical to the loop version — golden diff</a:t>
            </a:r>
            <a:endParaRPr lang="en-US" sz="105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1124 checks pass; public API untouched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ISAM vs B+tree — Why Freeze the Tree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41248" y="1645920"/>
            <a:ext cx="5120640" cy="4389120"/>
          </a:xfrm>
          <a:prstGeom prst="roundRect">
            <a:avLst>
              <a:gd name="adj" fmla="val 1042"/>
            </a:avLst>
          </a:prstGeom>
          <a:solidFill>
            <a:srgbClr val="DAE3F3"/>
          </a:solidFill>
          <a:ln w="15875">
            <a:solidFill>
              <a:srgbClr val="2F559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 (this exercise)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28600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separators built bottom-up once, then frozen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never split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spill into overflow chains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shows up in data (spilled keys) before it shows up in structure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structure over a dynamic file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36208" y="1645920"/>
            <a:ext cx="512064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B+tree (the next exercise)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28600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split on demand; splits propagate up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separators are updated as the tree grows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overflow chains — the tree absorbs inserts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rebalances itself; height stays logarithmic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frozen-separator contrast is the point of building ISAM first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Proving It: the Check Suite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1124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across four suites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453128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453128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suites vendored from ex11 and ex12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65008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× 500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065008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predicates over random rows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42062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SELECT executed twice: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allowed · index suppressed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3566160"/>
            <a:ext cx="3108960" cy="822960"/>
          </a:xfrm>
          <a:prstGeom prst="roundRect">
            <a:avLst>
              <a:gd name="adj" fmla="val 4444"/>
            </a:avLst>
          </a:prstGeom>
          <a:solidFill>
            <a:srgbClr val="E2EFDA"/>
          </a:solidFill>
          <a:ln w="15875">
            <a:solidFill>
              <a:srgbClr val="54823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answers must be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set of rows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0" y="3566160"/>
            <a:ext cx="1371600" cy="822960"/>
          </a:xfrm>
          <a:prstGeom prst="roundRect">
            <a:avLst>
              <a:gd name="adj" fmla="val 4444"/>
            </a:avLst>
          </a:prstGeom>
          <a:solidFill>
            <a:srgbClr val="70AD47"/>
          </a:solidFill>
          <a:ln w="15875">
            <a:solidFill>
              <a:srgbClr val="54823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94960" y="3977640"/>
            <a:ext cx="6400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0" y="3977640"/>
            <a:ext cx="6400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188720" y="4526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differential oracle — correctness never depends on the access path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index-module suite: byte-frozen separators, duplicates spanning leaves, seeded corruption, persistence</a:t>
            </a:r>
            <a:endParaRPr lang="en-US" sz="1400" dirty="0"/>
          </a:p>
          <a:p>
            <a:pPr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checkindex: verify() over any index file — one report line per index, clean or named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13648" y="6382512"/>
            <a:ext cx="2743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3771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Questions ?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manuel.rodriguez7@upr.edu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ex13 — the ISAM implementation · EXPLAIN.md has the full story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Database Systems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The ISAM Implementation (ex13)</dc:subject>
  <dc:creator>Dr. Manuel Rodriguez Martinez</dc:creator>
  <cp:lastModifiedBy>Dr. Manuel Rodriguez Martinez</cp:lastModifiedBy>
  <cp:revision>1</cp:revision>
  <dcterms:created xsi:type="dcterms:W3CDTF">2026-10-06T13:13:51Z</dcterms:created>
  <dcterms:modified xsi:type="dcterms:W3CDTF">2026-10-06T13:13:51Z</dcterms:modified>
</cp:coreProperties>
</file>