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F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146304" cy="137160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DB6A6"/>
                </a:solidFill>
                <a:latin typeface="Calibri"/>
              </a:rPr>
              <a:t>ex10 · heapfile /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LRU Iterator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C9D3E6"/>
                </a:solidFill>
                <a:latin typeface="Calibri"/>
              </a:rPr>
              <a:t>Why policy/LRUPolicy.{h,cpp} caches a std::list iterator per frame —
and how list.cpp makes that trick visible with Person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053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ACC7"/>
                </a:solidFill>
                <a:latin typeface="Calibri"/>
              </a:rPr>
              <a:t>Source: lru.md  ·  list.cpp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B6A6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One question, one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5B6272"/>
                </a:solidFill>
                <a:latin typeface="Calibri"/>
              </a:rPr>
              <a:t>LRUPolicy must answer: among the frames the manager offers as candidates, which one was used least recently?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6035040" cy="3246120"/>
          </a:xfrm>
          <a:prstGeom prst="rect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95144"/>
            <a:ext cx="563270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// policy/ReplacementPolicy.h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init(pool_size)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  reset state for a pool of pool_size frames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on_load(frame) / on_access(frame)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  frame just became (or was) used -&gt;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  now the most recently used frame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on_remove(frame)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  frame no longer holds a page; forget it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pick_victim(candidates)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  return the oldest-used candidate,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  or nullopt if none is tracked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4884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600">
                <a:solidFill>
                  <a:srgbClr val="1F3354"/>
                </a:solidFill>
                <a:latin typeface="Calibri"/>
              </a:rPr>
              <a:t>Fact 1  </a:t>
            </a:r>
            <a:r>
              <a:rPr sz="1600">
                <a:solidFill>
                  <a:srgbClr val="20222B"/>
                </a:solidFill>
                <a:latin typeface="Calibri"/>
              </a:rPr>
              <a:t>Frame ids are dense — indices 0..pool_size-1 into the pool, so a plain array can index them. No hashing needed.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600">
                <a:solidFill>
                  <a:srgbClr val="1F3354"/>
                </a:solidFill>
                <a:latin typeface="Calibri"/>
              </a:rPr>
              <a:t>Fact 2  </a:t>
            </a:r>
            <a:r>
              <a:rPr sz="1600">
                <a:solidFill>
                  <a:srgbClr val="20222B"/>
                </a:solidFill>
                <a:latin typeface="Calibri"/>
              </a:rPr>
              <a:t>Candidates arrive already materialized — BufferManager::find_victim_frame hands the policy a vector of unpinned, page-holding frames. The policy only ranks what it's given.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B6A6"/>
                </a:solidFill>
                <a:latin typeface="Calibri"/>
              </a:rPr>
              <a:t>THE SHIPPED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Two structures kept in lock-step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10607040" cy="1051560"/>
          </a:xfrm>
          <a:prstGeom prst="rect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00784"/>
            <a:ext cx="102047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600">
                <a:solidFill>
                  <a:srgbClr val="E3E6EC"/>
                </a:solidFill>
                <a:latin typeface="Consolas"/>
              </a:rPr>
              <a:t>std::list&lt;std::size_t&gt; order_;                             // MRU front ... LRU back</a:t>
            </a:r>
          </a:p>
          <a:p>
            <a:pPr>
              <a:lnSpc>
                <a:spcPct val="118000"/>
              </a:lnSpc>
            </a:pPr>
            <a:r>
              <a:rPr sz="1600">
                <a:solidFill>
                  <a:srgbClr val="E3E6EC"/>
                </a:solidFill>
                <a:latin typeface="Consolas"/>
              </a:rPr>
              <a:t>std::vector&lt;std::list&lt;std::size_t&gt;::iterator&gt; positions_;  // one cached iterator /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963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354"/>
                </a:solidFill>
                <a:latin typeface="Calibri"/>
              </a:rPr>
              <a:t>order_  (std::list)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880360"/>
            <a:ext cx="1051560" cy="640080"/>
          </a:xfrm>
          <a:prstGeom prst="roundRect">
            <a:avLst/>
          </a:prstGeom>
          <a:solidFill>
            <a:srgbClr val="1F3354"/>
          </a:solidFill>
          <a:ln w="15875">
            <a:solidFill>
              <a:srgbClr val="2DB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frame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7530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8B4B"/>
                </a:solidFill>
                <a:latin typeface="Calibri"/>
              </a:rPr>
              <a:t>MRU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3200400"/>
            <a:ext cx="320040" cy="0"/>
          </a:xfrm>
          <a:prstGeom prst="line">
            <a:avLst/>
          </a:prstGeom>
          <a:ln w="19050">
            <a:solidFill>
              <a:srgbClr val="5B6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60320" y="2880360"/>
            <a:ext cx="1051560" cy="640080"/>
          </a:xfrm>
          <a:prstGeom prst="roundRect">
            <a:avLst/>
          </a:prstGeom>
          <a:solidFill>
            <a:srgbClr val="1F3354"/>
          </a:solidFill>
          <a:ln w="15875">
            <a:solidFill>
              <a:srgbClr val="2DB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frame 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11880" y="3200400"/>
            <a:ext cx="320040" cy="0"/>
          </a:xfrm>
          <a:prstGeom prst="line">
            <a:avLst/>
          </a:prstGeom>
          <a:ln w="19050">
            <a:solidFill>
              <a:srgbClr val="5B6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31920" y="2880360"/>
            <a:ext cx="1051560" cy="640080"/>
          </a:xfrm>
          <a:prstGeom prst="roundRect">
            <a:avLst/>
          </a:prstGeom>
          <a:solidFill>
            <a:srgbClr val="1F3354"/>
          </a:solidFill>
          <a:ln w="15875">
            <a:solidFill>
              <a:srgbClr val="2DB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frame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7530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8B4B"/>
                </a:solidFill>
                <a:latin typeface="Calibri"/>
              </a:rPr>
              <a:t>LRU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354"/>
                </a:solidFill>
                <a:latin typeface="Calibri"/>
              </a:rPr>
              <a:t>positions_[frame]  (std::vector&lt;iterator&gt;)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434840"/>
            <a:ext cx="914400" cy="548640"/>
          </a:xfrm>
          <a:prstGeom prst="rect">
            <a:avLst/>
          </a:prstGeom>
          <a:solidFill>
            <a:srgbClr val="2DB6A6"/>
          </a:solidFill>
          <a:ln w="12700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6243E"/>
                </a:solidFill>
                <a:latin typeface="Calibri"/>
              </a:rPr>
              <a:t>[0]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645920" y="3520440"/>
            <a:ext cx="2811780" cy="914400"/>
          </a:xfrm>
          <a:prstGeom prst="line">
            <a:avLst/>
          </a:prstGeom>
          <a:ln w="15875">
            <a:solidFill>
              <a:srgbClr val="2DB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331720" y="4434840"/>
            <a:ext cx="914400" cy="548640"/>
          </a:xfrm>
          <a:prstGeom prst="rect">
            <a:avLst/>
          </a:prstGeom>
          <a:solidFill>
            <a:srgbClr val="2DB6A6"/>
          </a:solidFill>
          <a:ln w="12700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6243E"/>
                </a:solidFill>
                <a:latin typeface="Calibri"/>
              </a:rPr>
              <a:t>[1]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788920" y="3520440"/>
            <a:ext cx="297180" cy="914400"/>
          </a:xfrm>
          <a:prstGeom prst="line">
            <a:avLst/>
          </a:prstGeom>
          <a:ln w="15875">
            <a:solidFill>
              <a:srgbClr val="2DB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474720" y="4434840"/>
            <a:ext cx="914400" cy="548640"/>
          </a:xfrm>
          <a:prstGeom prst="rect">
            <a:avLst/>
          </a:prstGeom>
          <a:solidFill>
            <a:srgbClr val="2DB6A6"/>
          </a:solidFill>
          <a:ln w="12700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6243E"/>
                </a:solidFill>
                <a:latin typeface="Calibri"/>
              </a:rPr>
              <a:t>[2]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1714500" y="3520440"/>
            <a:ext cx="2217420" cy="914400"/>
          </a:xfrm>
          <a:prstGeom prst="line">
            <a:avLst/>
          </a:prstGeom>
          <a:ln w="15875">
            <a:solidFill>
              <a:srgbClr val="2DB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17720" y="4434840"/>
            <a:ext cx="914400" cy="548640"/>
          </a:xfrm>
          <a:prstGeom prst="rect">
            <a:avLst/>
          </a:prstGeom>
          <a:solidFill>
            <a:srgbClr val="D8DCE4"/>
          </a:solidFill>
          <a:ln w="12700">
            <a:solidFill>
              <a:srgbClr val="1F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B6272"/>
                </a:solidFill>
                <a:latin typeface="Calibri"/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029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B6272"/>
                </a:solidFill>
                <a:latin typeface="Calibri"/>
              </a:rPr>
              <a:t>end()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83464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272"/>
                </a:solidFill>
                <a:latin typeface="Calibri"/>
              </a:rPr>
              <a:t>Each entry of positions_ is a cached iterator into order_ — so finding a frame's node never means searching the 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B6A6"/>
                </a:solidFill>
                <a:latin typeface="Calibri"/>
              </a:rPr>
              <a:t>WHY IT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erase(iterator) is O(1) — only if you hold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std::list::erase(iterator) is O(1) — but only when you already hold the iterator to that node.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Without a cache, moving a frame to MRU still needs a search: walk order_ until you find that frame's node — O(F).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positions_[frame] stores exactly that iterator, cached from the last time the frame was touched.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So touch() becomes erase-at-a-known-position + push_front + re-cache — all O(1), no 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00200"/>
            <a:ext cx="5166360" cy="2103120"/>
          </a:xfrm>
          <a:prstGeom prst="rect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46504"/>
            <a:ext cx="47640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// without the cache: O(F) search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for (it = order_.begin(); *it != frame; ++it) {}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order_.erase(it);          // now O(1)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order_.push_front(frame);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931920"/>
            <a:ext cx="5166360" cy="1874519"/>
          </a:xfrm>
          <a:prstGeom prst="rect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078224"/>
            <a:ext cx="4764024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7A8294"/>
                </a:solidFill>
                <a:latin typeface="Consolas"/>
              </a:rPr>
              <a:t>// with the cache: O(1) throughout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order_.erase(positions_[frame]);   // no search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order_.push_front(frame);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positions_[frame] = order_.begin();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B6A6"/>
                </a:solidFill>
                <a:latin typeface="Calibri"/>
              </a:rPr>
              <a:t>THE SHIPPED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touch(frame) — annotated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10607040" cy="2514600"/>
          </a:xfrm>
          <a:prstGeom prst="rect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46504"/>
            <a:ext cx="1020470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700">
                <a:solidFill>
                  <a:srgbClr val="E3E6EC"/>
                </a:solidFill>
                <a:latin typeface="Consolas"/>
              </a:rPr>
              <a:t>void touch(std::size_t frame) {</a:t>
            </a:r>
          </a:p>
          <a:p>
            <a:pPr>
              <a:lnSpc>
                <a:spcPct val="118000"/>
              </a:lnSpc>
            </a:pPr>
            <a:r>
              <a:rPr sz="1700">
                <a:solidFill>
                  <a:srgbClr val="E3E6EC"/>
                </a:solidFill>
                <a:latin typeface="Consolas"/>
              </a:rPr>
              <a:t>    if (positions_[frame] != order_.end())</a:t>
            </a:r>
          </a:p>
          <a:p>
            <a:pPr>
              <a:lnSpc>
                <a:spcPct val="118000"/>
              </a:lnSpc>
            </a:pPr>
            <a:r>
              <a:rPr sz="1700">
                <a:solidFill>
                  <a:srgbClr val="7ED9C9"/>
                </a:solidFill>
                <a:latin typeface="Consolas"/>
              </a:rPr>
              <a:t>        order_.erase(positions_[frame]);   // O(1): already have the iterator</a:t>
            </a:r>
          </a:p>
          <a:p>
            <a:pPr>
              <a:lnSpc>
                <a:spcPct val="118000"/>
              </a:lnSpc>
            </a:pPr>
            <a:r>
              <a:rPr sz="1700">
                <a:solidFill>
                  <a:srgbClr val="E3E6EC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700">
                <a:solidFill>
                  <a:srgbClr val="E3E6EC"/>
                </a:solidFill>
                <a:latin typeface="Consolas"/>
              </a:rPr>
              <a:t>    order_.push_front(frame);              // frame becomes MRU</a:t>
            </a:r>
          </a:p>
          <a:p>
            <a:pPr>
              <a:lnSpc>
                <a:spcPct val="118000"/>
              </a:lnSpc>
            </a:pPr>
            <a:r>
              <a:rPr sz="1700">
                <a:solidFill>
                  <a:srgbClr val="E3E6EC"/>
                </a:solidFill>
                <a:latin typeface="Consolas"/>
              </a:rPr>
              <a:t>    positions_[frame] = order_.begin();     // re-cache its new position</a:t>
            </a:r>
          </a:p>
          <a:p>
            <a:pPr>
              <a:lnSpc>
                <a:spcPct val="118000"/>
              </a:lnSpc>
            </a:pPr>
            <a:r>
              <a:rPr sz="1700">
                <a:solidFill>
                  <a:srgbClr val="E3E6EC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600">
                <a:solidFill>
                  <a:srgbClr val="1F3354"/>
                </a:solidFill>
                <a:latin typeface="Calibri"/>
              </a:rPr>
              <a:t>Tracked frame  </a:t>
            </a:r>
            <a:r>
              <a:rPr sz="1600">
                <a:solidFill>
                  <a:srgbClr val="20222B"/>
                </a:solidFill>
                <a:latin typeface="Calibri"/>
              </a:rPr>
              <a:t>positions_[frame] != end() → erase via the cached iterator, no scan of order_ at all.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600">
                <a:solidFill>
                  <a:srgbClr val="1F3354"/>
                </a:solidFill>
                <a:latin typeface="Calibri"/>
              </a:rPr>
              <a:t>Untracked frame  </a:t>
            </a:r>
            <a:r>
              <a:rPr sz="1600">
                <a:solidFill>
                  <a:srgbClr val="20222B"/>
                </a:solidFill>
                <a:latin typeface="Calibri"/>
              </a:rPr>
              <a:t>positions_[frame] == end() → skip the erase, this is the frame's first appearance.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600">
                <a:solidFill>
                  <a:srgbClr val="1F3354"/>
                </a:solidFill>
                <a:latin typeface="Calibri"/>
              </a:rPr>
              <a:t>Either way  </a:t>
            </a:r>
            <a:r>
              <a:rPr sz="1600">
                <a:solidFill>
                  <a:srgbClr val="20222B"/>
                </a:solidFill>
                <a:latin typeface="Calibri"/>
              </a:rPr>
              <a:t>push_front + re-cache leaves positions_[frame] pointing at the frame's brand-new front-of-list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B6A6"/>
                </a:solidFill>
                <a:latin typeface="Calibri"/>
              </a:rPr>
              <a:t>THE SHIPPED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The end() sentinel convention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positions_[frame] == order_.end() means "this frame is not currently tracked."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end() is not a fixed value — it changes as the list mutates — so it is only ever compared, never stored long-term as a meaningful position.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on_remove(frame) retires a frame: erase its node from order_, then reset positions_[frame] back to order_.end().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20222B"/>
                </a:solidFill>
                <a:latin typeface="Calibri"/>
              </a:rPr>
              <a:t>•  This is the one piece of bookkeeping the simpler alternatives (a tick array, a map) don't need — it's the price of caching iterators at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00200"/>
            <a:ext cx="4892040" cy="1828800"/>
          </a:xfrm>
          <a:prstGeom prst="rect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746504"/>
            <a:ext cx="44897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void on_remove(std::size_t frame) {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    if (positions_[frame] != order_.end()) {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        order_.erase(positions_[frame]);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        positions_[frame] = order_.end();  // retire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    }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749039"/>
            <a:ext cx="4892040" cy="1965960"/>
          </a:xfrm>
          <a:prstGeom prst="rect">
            <a:avLst/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9136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354"/>
                </a:solidFill>
                <a:latin typeface="Calibri"/>
              </a:rPr>
              <a:t>init(pool_size)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279392"/>
            <a:ext cx="4480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272"/>
                </a:solidFill>
                <a:latin typeface="Consolas"/>
              </a:rPr>
              <a:t>positions_.assign(pool_size, order_.end());
Every frame starts "not tracked" — the same sentinel state on_remove restores after eviction.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8B4B"/>
                </a:solidFill>
                <a:latin typeface="Calibri"/>
              </a:rPr>
              <a:t>list.cpp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Same shape, dressed as Persons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B6272"/>
                </a:solidFill>
                <a:latin typeface="Calibri"/>
              </a:rPr>
              <a:t>list.cpp is a standalone, runnable illustration of LRUPolicy's iterator trick — the recency queue now holds Person ids and the "frames" are an array of Person records, so every step prints a name instead of an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10607040" cy="1828800"/>
          </a:xfrm>
          <a:prstGeom prst="rect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615184"/>
            <a:ext cx="102047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using Order    = std::list&lt;std::size_t&gt;;   // MRU front ... LRU back  (same as order_)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using Position = Order::iterator;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class LruIllustration {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    void touch(std::size_t frame);                                   // prints what it did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    void on_remove(std::size_t frame);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7ED9C9"/>
                </a:solidFill>
                <a:latin typeface="Consolas"/>
              </a:rPr>
              <a:t>    std::optional&lt;std::size_t&gt; pick_victim(const std::vector&lt;std::size_t&gt;&amp;) const;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3E6EC"/>
                </a:solidFill>
                <a:latin typeface="Consolas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600">
                <a:solidFill>
                  <a:srgbClr val="1F3354"/>
                </a:solidFill>
                <a:latin typeface="Calibri"/>
              </a:rPr>
              <a:t>touch()  </a:t>
            </a:r>
            <a:r>
              <a:rPr sz="1600">
                <a:solidFill>
                  <a:srgbClr val="20222B"/>
                </a:solidFill>
                <a:latin typeface="Calibri"/>
              </a:rPr>
              <a:t>logs whether it took the "erase via cached iterator, O(1)" branch or the "not tracked yet" branch, then push_front + re-cache.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600">
                <a:solidFill>
                  <a:srgbClr val="1F3354"/>
                </a:solidFill>
                <a:latin typeface="Calibri"/>
              </a:rPr>
              <a:t>show()  </a:t>
            </a:r>
            <a:r>
              <a:rPr sz="1600">
                <a:solidFill>
                  <a:srgbClr val="20222B"/>
                </a:solidFill>
                <a:latin typeface="Calibri"/>
              </a:rPr>
              <a:t>prints order_ MRU→LRU by name, and each positions_[frame] as either "points at &lt;name&gt;" or "end(sentinel)" — the cache made visible.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8B4B"/>
                </a:solidFill>
                <a:latin typeface="Calibri"/>
              </a:rPr>
              <a:t>list.cpp —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Six acts, one recency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429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746504"/>
            <a:ext cx="365760" cy="365760"/>
          </a:xfrm>
          <a:prstGeom prst="ellipse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46504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43E"/>
                </a:solidFill>
                <a:latin typeface="Calibri"/>
              </a:rPr>
              <a:t>Load 0, 1,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219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354"/>
                </a:solidFill>
                <a:latin typeface="Consolas"/>
              </a:rPr>
              <a:t>ada → grace → edsger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603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B6A6"/>
                </a:solidFill>
                <a:latin typeface="Calibri"/>
              </a:rPr>
              <a:t>order: edsger, grace, 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98648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Calibri"/>
              </a:rPr>
              <a:t>Each touch() takes the "not tracked yet" branch — nothing to erase.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600200"/>
            <a:ext cx="3429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25112" y="1746504"/>
            <a:ext cx="365760" cy="365760"/>
          </a:xfrm>
          <a:prstGeom prst="ellipse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746504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43E"/>
                </a:solidFill>
                <a:latin typeface="Calibri"/>
              </a:rPr>
              <a:t>Access ada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22219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354"/>
                </a:solidFill>
                <a:latin typeface="Consolas"/>
              </a:rPr>
              <a:t>touch(0)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5603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B6A6"/>
                </a:solidFill>
                <a:latin typeface="Calibri"/>
              </a:rPr>
              <a:t>order: ada, edsger, grace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898648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Calibri"/>
              </a:rPr>
              <a:t>positions_[0] != end() → erase via cached iterator (O(1), no search), re-push.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1600200"/>
            <a:ext cx="3429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2712" y="1746504"/>
            <a:ext cx="365760" cy="365760"/>
          </a:xfrm>
          <a:prstGeom prst="ellipse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746504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43E"/>
                </a:solidFill>
                <a:latin typeface="Calibri"/>
              </a:rPr>
              <a:t>Load donald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2219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354"/>
                </a:solidFill>
                <a:latin typeface="Consolas"/>
              </a:rPr>
              <a:t>touch(3)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5603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B6A6"/>
                </a:solidFill>
                <a:latin typeface="Calibri"/>
              </a:rPr>
              <a:t>order: donald, ada, edsger, grace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2898648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Calibri"/>
              </a:rPr>
              <a:t>First appearance of frame 3 → "not tracked yet" branch again.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14800"/>
            <a:ext cx="3429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" y="4261104"/>
            <a:ext cx="365760" cy="365760"/>
          </a:xfrm>
          <a:prstGeom prst="ellipse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261104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43E"/>
                </a:solidFill>
                <a:latin typeface="Calibri"/>
              </a:rPr>
              <a:t>Remove donald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7365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354"/>
                </a:solidFill>
                <a:latin typeface="Consolas"/>
              </a:rPr>
              <a:t>on_remove(3)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50749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B6A6"/>
                </a:solidFill>
                <a:latin typeface="Calibri"/>
              </a:rPr>
              <a:t>order: ada, edsger, grace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413248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Calibri"/>
              </a:rPr>
              <a:t>Erased from the list; positions_[3] reset to end() — the others' cached iterators stay valid.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114800"/>
            <a:ext cx="3429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25112" y="4261104"/>
            <a:ext cx="365760" cy="365760"/>
          </a:xfrm>
          <a:prstGeom prst="ellipse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261104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43E"/>
                </a:solidFill>
                <a:latin typeface="Calibri"/>
              </a:rPr>
              <a:t>Evict among {0,1,2}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47365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354"/>
                </a:solidFill>
                <a:latin typeface="Consolas"/>
              </a:rPr>
              <a:t>pick_victim({0,1,2})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0749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B6A6"/>
                </a:solidFill>
                <a:latin typeface="Calibri"/>
              </a:rPr>
              <a:t>victim = grace (frame 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413248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Calibri"/>
              </a:rPr>
              <a:t>Walk order_ from the back (LRU end); grace is the first candidate hit.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4114800"/>
            <a:ext cx="3429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82712" y="4261104"/>
            <a:ext cx="365760" cy="365760"/>
          </a:xfrm>
          <a:prstGeom prst="ellipse">
            <a:avLst/>
          </a:prstGeom>
          <a:solidFill>
            <a:srgbClr val="E88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261104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43E"/>
                </a:solidFill>
                <a:latin typeface="Calibri"/>
              </a:rPr>
              <a:t>Sentinel proven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47365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354"/>
                </a:solidFill>
                <a:latin typeface="Consolas"/>
              </a:rPr>
              <a:t>touch(3) again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82712" y="507492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B6A6"/>
                </a:solidFill>
                <a:latin typeface="Calibri"/>
              </a:rPr>
              <a:t>"not tracked yet" branch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5413248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272"/>
                </a:solidFill>
                <a:latin typeface="Calibri"/>
              </a:rPr>
              <a:t>Frame 3 was never re-tracked after step 4 — its position is still end().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B6A6"/>
                </a:solidFill>
                <a:latin typeface="Calibri"/>
              </a:rPr>
              <a:t>LRU.MD —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Five ways to answer the same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00200"/>
          <a:ext cx="106070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  <a:gridCol w="1234440"/>
                <a:gridCol w="1737360"/>
                <a:gridCol w="141732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6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touch/load/access</a:t>
                      </a:r>
                    </a:p>
                  </a:txBody>
                  <a:tcPr marL="91440" marR="91440" marT="27432" marB="27432" anchor="ctr">
                    <a:solidFill>
                      <a:srgbClr val="16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on_remove</a:t>
                      </a:r>
                    </a:p>
                  </a:txBody>
                  <a:tcPr marL="91440" marR="91440" marT="27432" marB="27432" anchor="ctr">
                    <a:solidFill>
                      <a:srgbClr val="16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pick_victim</a:t>
                      </a:r>
                    </a:p>
                  </a:txBody>
                  <a:tcPr marL="91440" marR="91440" marT="27432" marB="27432" anchor="ctr">
                    <a:solidFill>
                      <a:srgbClr val="16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State/frame</a:t>
                      </a:r>
                    </a:p>
                  </a:txBody>
                  <a:tcPr marL="91440" marR="91440" marT="27432" marB="27432" anchor="ctr">
                    <a:solidFill>
                      <a:srgbClr val="16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marT="27432" marB="27432" anchor="ctr">
                    <a:solidFill>
                      <a:srgbClr val="1624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354"/>
                          </a:solidFill>
                          <a:latin typeface="Calibri"/>
                        </a:rPr>
                        <a:t>A  list + iterators (current)</a:t>
                      </a:r>
                    </a:p>
                  </a:txBody>
                  <a:tcPr marL="91440" marR="91440" marT="27432" marB="27432" anchor="ctr">
                    <a:solidFill>
                      <a:srgbClr val="EE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 marT="27432" marB="27432" anchor="ctr">
                    <a:solidFill>
                      <a:srgbClr val="EE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 marT="27432" marB="27432" anchor="ctr">
                    <a:solidFill>
                      <a:srgbClr val="EE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O(C)…O(F) walk</a:t>
                      </a:r>
                    </a:p>
                  </a:txBody>
                  <a:tcPr marL="91440" marR="91440" marT="27432" marB="27432" anchor="ctr">
                    <a:solidFill>
                      <a:srgbClr val="EE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node + iterator</a:t>
                      </a:r>
                    </a:p>
                  </a:txBody>
                  <a:tcPr marL="91440" marR="91440" marT="27432" marB="27432" anchor="ctr">
                    <a:solidFill>
                      <a:srgbClr val="EEF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iterator validity, end() sentinel</a:t>
                      </a:r>
                    </a:p>
                  </a:txBody>
                  <a:tcPr marL="91440" marR="91440" marT="27432" marB="27432" anchor="ctr"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354"/>
                          </a:solidFill>
                          <a:latin typeface="Calibri"/>
                        </a:rPr>
                        <a:t>B  map frame→tick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O(log F)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O(log F)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O(C·log F)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1 map node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354"/>
                          </a:solidFill>
                          <a:latin typeface="Calibri"/>
                        </a:rPr>
                        <a:t>C  vector of ticks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O(C)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8 bytes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tick-0 sentinel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354"/>
                          </a:solidFill>
                          <a:latin typeface="Calibri"/>
                        </a:rPr>
                        <a:t>D  two tick maps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O(log F)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O(log F)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O(C·log F)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2 map nodes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two structures must agree</a:t>
                      </a:r>
                    </a:p>
                  </a:txBody>
                  <a:tcPr marL="91440" marR="91440" marT="27432" marB="27432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354"/>
                          </a:solidFill>
                          <a:latin typeface="Calibri"/>
                        </a:rPr>
                        <a:t>E  priority queue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O(log F)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lazy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O(C·log F)+stale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heap+stamps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0222B"/>
                          </a:solidFill>
                          <a:latin typeface="Consolas"/>
                        </a:rPr>
                        <a:t>stale entries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B6272"/>
                </a:solidFill>
                <a:latin typeface="Calibri"/>
              </a:rPr>
              <a:t>F = pool size, C = |candidates|.  Readability ranking (most → least direct): C &gt; B &gt; A &gt; D &gt; E.  Speed at this pool size: indistinguishable.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28016" cy="82296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B6A6"/>
                </a:solidFill>
                <a:latin typeface="Calibri"/>
              </a:rPr>
              <a:t>LRU.MD —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43E"/>
                </a:solidFill>
                <a:latin typeface="Calibri"/>
              </a:rPr>
              <a:t>What each choice actually teaches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0607040" cy="19050"/>
          </a:xfrm>
          <a:prstGeom prst="rect">
            <a:avLst/>
          </a:prstGeom>
          <a:solidFill>
            <a:srgbClr val="E3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5120640" cy="3566160"/>
          </a:xfrm>
          <a:prstGeom prst="rect">
            <a:avLst/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DB6A6"/>
                </a:solidFill>
                <a:latin typeface="Calibri"/>
              </a:rPr>
              <a:t>A ·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663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0222B"/>
                </a:solidFill>
                <a:latin typeface="Calibri"/>
              </a:rPr>
              <a:t>The textbook LRU implementation. Pays in code sophistication — cached iterators, an end()-as-sentinel convention, erase-and-relink — to keep every hook O(1) and the victim walk order-optimal.
That complexity serves a workload (huge pools, millions of accesses/sec) this teaching project doesn't have — but it's the right thing to study.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120640" cy="3566160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8B4B"/>
                </a:solidFill>
                <a:latin typeface="Calibri"/>
              </a:rPr>
              <a:t>C · simplest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663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0222B"/>
                </a:solidFill>
                <a:latin typeface="Calibri"/>
              </a:rPr>
              <a:t>A plain vector&lt;uint64_t&gt; of last-use ticks, indexed by frame. No iterators, no sentinel-as-object, no relinking — just "recompute by scan, keep no derived state," the same philosophy as page.md §1a.
Every hook is O(1); pick_victim is an O(C) min-scan. The only sentinel is the integer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B6272"/>
                </a:solidFill>
                <a:latin typeface="Calibri"/>
              </a:rPr>
              <a:t>Recommendation: keep A in place as the reference implementation (it already passes ~200 checks in main.cpp); switch to C only if the goal becomes minimal code. Both satisfy the same test plan — the choice is which lesson the code should teach.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46304" cy="1920240"/>
          </a:xfrm>
          <a:prstGeom prst="rect">
            <a:avLst/>
          </a:prstGeom>
          <a:solidFill>
            <a:srgbClr val="2D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B6A6"/>
                </a:solidFill>
                <a:latin typeface="Calibri"/>
              </a:rP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iterator exists for one reason: to make touch() an O(1) unlink-and-relink instead of an O(F)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9D3E6"/>
                </a:solidFill>
                <a:latin typeface="Calibri"/>
              </a:rPr>
              <a:t>list.cpp makes that reason visible: every touch() call prints whether it found a cached iterator or hit the "not tracked yet" branch, and show() prints positions_ as arrows into names instead of opaque iterator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35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ACC7"/>
                </a:solidFill>
                <a:latin typeface="Calibri"/>
              </a:rPr>
              <a:t>policy/LRUPolicy.{h,cpp}  ·  lru.md  ·  list.cpp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