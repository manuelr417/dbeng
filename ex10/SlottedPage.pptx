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SlottedPage is a non-owning view over one frame buffer. Its whole job is to interpret 4096 bytes as fixed-length record slots plus bookkeeping. It never touches the disk — the buffer manager owns pinning, dirty marking and write-back.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 = 185 slots and D = 14 bytes of dead space for the 21-byte Person record. The identity 185*21 + 14 + 185 + 12 = 4096 fills the page exactly. The occupancy array ends exactly where the header begins, which is what makes occupancy_offset simple.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slot pays for itself plus one occupancy byte, which is where the +1 comes from. R = 1 is the degenerate case with no dead space at all; R = 25 leaves 2 bytes. occupancy_offset works backwards from the header so the array always ends exactly at kSlotCountOffset.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bind() touches no bytes — capacity stays 0 until format() or attach() runs, and every record operation is bounds-checked against it. The caller, not the page, decides whether the frame became dirty.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8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spc="160" kern="0" dirty="0">
                <a:solidFill>
                  <a:srgbClr val="9A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ex10  ·  heap file of slotted pages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749808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SlottedPage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57276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AFC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Giving 4096 raw bytes a meaning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685800" y="2473452"/>
            <a:ext cx="100584" cy="100584"/>
          </a:xfrm>
          <a:prstGeom prst="rect">
            <a:avLst/>
          </a:prstGeom>
          <a:solidFill>
            <a:srgbClr val="2C5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7532" y="2473452"/>
            <a:ext cx="100584" cy="100584"/>
          </a:xfrm>
          <a:prstGeom prst="rect">
            <a:avLst/>
          </a:prstGeom>
          <a:solidFill>
            <a:srgbClr val="B07D1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69264" y="2473452"/>
            <a:ext cx="100584" cy="100584"/>
          </a:xfrm>
          <a:prstGeom prst="rect">
            <a:avLst/>
          </a:prstGeom>
          <a:solidFill>
            <a:srgbClr val="2E8B6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161288" y="2340864"/>
            <a:ext cx="4919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page has to solve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2852928"/>
            <a:ext cx="52120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100"/>
              </a:lnSpc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DC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frame hands you 4096 raw bytes. Something has to decide what they mean.</a:t>
            </a:r>
            <a:endParaRPr lang="en-US" sz="1450" dirty="0"/>
          </a:p>
          <a:p>
            <a:pPr marL="342900" indent="-342900">
              <a:lnSpc>
                <a:spcPts val="2100"/>
              </a:lnSpc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DC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are fixed length (Person = 21 B), so slot i is pure arithmetic.</a:t>
            </a:r>
            <a:endParaRPr lang="en-US" sz="1450" dirty="0"/>
          </a:p>
          <a:p>
            <a:pPr marL="342900" indent="-342900">
              <a:lnSpc>
                <a:spcPts val="2100"/>
              </a:lnSpc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DC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slot carries one occupancy byte — 0 free, 1 occupied.</a:t>
            </a:r>
            <a:endParaRPr lang="en-US" sz="1450" dirty="0"/>
          </a:p>
          <a:p>
            <a:pPr marL="342900" indent="-342900">
              <a:lnSpc>
                <a:spcPts val="2100"/>
              </a:lnSpc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DC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page stores its own slot count and its prev / next page ids: on disk the file is a doubly linked list of pages.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720840" y="2473452"/>
            <a:ext cx="100584" cy="100584"/>
          </a:xfrm>
          <a:prstGeom prst="rect">
            <a:avLst/>
          </a:prstGeom>
          <a:solidFill>
            <a:srgbClr val="2C5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62572" y="2473452"/>
            <a:ext cx="100584" cy="100584"/>
          </a:xfrm>
          <a:prstGeom prst="rect">
            <a:avLst/>
          </a:prstGeom>
          <a:solidFill>
            <a:srgbClr val="B07D1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004304" y="2473452"/>
            <a:ext cx="100584" cy="100584"/>
          </a:xfrm>
          <a:prstGeom prst="rect">
            <a:avLst/>
          </a:prstGeom>
          <a:solidFill>
            <a:srgbClr val="2E8B6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196328" y="2340864"/>
            <a:ext cx="4370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of the object's state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6720840" y="2852928"/>
            <a:ext cx="4800600" cy="1261872"/>
          </a:xfrm>
          <a:prstGeom prst="roundRect">
            <a:avLst>
              <a:gd name="adj" fmla="val 4348"/>
            </a:avLst>
          </a:prstGeom>
          <a:solidFill>
            <a:srgbClr val="1C2440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6922008" y="2999232"/>
            <a:ext cx="439826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D7E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char* buffer_     = nullptr;  // not owned</a:t>
            </a:r>
            <a:endParaRPr lang="en-US" sz="1050" dirty="0"/>
          </a:p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D7E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std::size_t record_size_ = 0;</a:t>
            </a:r>
            <a:endParaRPr lang="en-US" sz="1050" dirty="0"/>
          </a:p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D7E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std::size_t capacity_    = 0;</a:t>
            </a:r>
            <a:endParaRPr lang="en-US" sz="1050" dirty="0"/>
          </a:p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D7E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unset until format() or attach()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6720840" y="4279392"/>
            <a:ext cx="4800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i="1" dirty="0">
                <a:solidFill>
                  <a:srgbClr val="9A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derived is cached. Occupied counts, free slots and chain links are recomputed from the bytes on every call — the bytes cannot drift from themselves.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85800" y="5650992"/>
            <a:ext cx="10835640" cy="658368"/>
          </a:xfrm>
          <a:prstGeom prst="roundRect">
            <a:avLst>
              <a:gd name="adj" fmla="val 8333"/>
            </a:avLst>
          </a:prstGeom>
          <a:solidFill>
            <a:srgbClr val="202A4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60120" y="5650992"/>
            <a:ext cx="10287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 only.  </a:t>
            </a:r>
            <a:pPr indent="0" marL="0">
              <a:buNone/>
            </a:pPr>
            <a:r>
              <a:rPr lang="en-US" sz="1400" dirty="0">
                <a:solidFill>
                  <a:srgbClr val="B9C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I/O, no file handle, no pins, no dirty flags — those stay in BufferManager.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29260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2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byte layout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21792" y="841248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Fixed-length record slots, one occupancy byte each, and the chain links — all inside a single block</a:t>
            </a:r>
            <a:endParaRPr lang="en-US" sz="1350" dirty="0"/>
          </a:p>
        </p:txBody>
      </p:sp>
      <p:pic>
        <p:nvPicPr>
          <p:cNvPr id="4" name="Image 0" descr="/tmp/claude-0/-home-claude/36ca95e1-3347-554c-bdf6-ec846bdbd786/scratchpad/page_layou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1280160"/>
            <a:ext cx="10515600" cy="48006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41248" y="6199632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C5F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kNoPage = 0xFFFFFFFF</a:t>
            </a:r>
            <a:pPr algn="ctr"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ends the chain — page id 0 is legal (it is the header page), so 0 can never be the sentinel.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292608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2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Capacity, dead space, slot arithmetic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21792" y="841248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byte math is written once, with names — so the layout table has exactly one counterpart in code.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94360" y="1431036"/>
            <a:ext cx="100584" cy="100584"/>
          </a:xfrm>
          <a:prstGeom prst="rect">
            <a:avLst/>
          </a:prstGeom>
          <a:solidFill>
            <a:srgbClr val="2C5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6092" y="1431036"/>
            <a:ext cx="100584" cy="100584"/>
          </a:xfrm>
          <a:prstGeom prst="rect">
            <a:avLst/>
          </a:prstGeom>
          <a:solidFill>
            <a:srgbClr val="B07D1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77824" y="1431036"/>
            <a:ext cx="100584" cy="100584"/>
          </a:xfrm>
          <a:prstGeom prst="rect">
            <a:avLst/>
          </a:prstGeom>
          <a:solidFill>
            <a:srgbClr val="2E8B6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69848" y="1298448"/>
            <a:ext cx="5468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2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SlottedPage.cpp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594360" y="1783080"/>
            <a:ext cx="5897880" cy="3977640"/>
          </a:xfrm>
          <a:prstGeom prst="roundRect">
            <a:avLst>
              <a:gd name="adj" fmla="val 1379"/>
            </a:avLst>
          </a:prstGeom>
          <a:solidFill>
            <a:srgbClr val="F2F4F8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795528" y="1929384"/>
            <a:ext cx="5495544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25"/>
              </a:lnSpc>
              <a:buNone/>
            </a:pPr>
            <a:r>
              <a:rPr lang="en-US" sz="1150" dirty="0">
                <a:solidFill>
                  <a:srgbClr val="1218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std::size_t slot_capacity(std::size_t record_size) {</a:t>
            </a:r>
            <a:endParaRPr lang="en-US" sz="1150" dirty="0"/>
          </a:p>
          <a:p>
            <a:pPr indent="0" marL="0">
              <a:lnSpc>
                <a:spcPts val="1725"/>
              </a:lnSpc>
              <a:buNone/>
            </a:pPr>
            <a:r>
              <a:rPr lang="en-US" sz="1150" dirty="0">
                <a:solidFill>
                  <a:srgbClr val="1218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(bufman::kPageSize - kPageHeaderSize)</a:t>
            </a:r>
            <a:endParaRPr lang="en-US" sz="1150" dirty="0"/>
          </a:p>
          <a:p>
            <a:pPr indent="0" marL="0">
              <a:lnSpc>
                <a:spcPts val="1725"/>
              </a:lnSpc>
              <a:buNone/>
            </a:pPr>
            <a:r>
              <a:rPr lang="en-US" sz="1150" dirty="0">
                <a:solidFill>
                  <a:srgbClr val="1218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/ (record_size + 1);</a:t>
            </a:r>
            <a:endParaRPr lang="en-US" sz="1150" dirty="0"/>
          </a:p>
          <a:p>
            <a:pPr indent="0" marL="0">
              <a:lnSpc>
                <a:spcPts val="1725"/>
              </a:lnSpc>
              <a:buNone/>
            </a:pPr>
            <a:r>
              <a:rPr lang="en-US" sz="1150" dirty="0">
                <a:solidFill>
                  <a:srgbClr val="1218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  <a:p>
            <a:pPr indent="0" marL="0">
              <a:lnSpc>
                <a:spcPts val="1725"/>
              </a:lnSpc>
              <a:buNone/>
            </a:pPr>
            <a:endParaRPr lang="en-US" sz="1150" dirty="0"/>
          </a:p>
          <a:p>
            <a:pPr indent="0" marL="0">
              <a:lnSpc>
                <a:spcPts val="1725"/>
              </a:lnSpc>
              <a:buNone/>
            </a:pPr>
            <a:r>
              <a:rPr lang="en-US" sz="1150" dirty="0">
                <a:solidFill>
                  <a:srgbClr val="1218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std::size_t dead_space(std::size_t record_size) {</a:t>
            </a:r>
            <a:endParaRPr lang="en-US" sz="1150" dirty="0"/>
          </a:p>
          <a:p>
            <a:pPr indent="0" marL="0">
              <a:lnSpc>
                <a:spcPts val="1725"/>
              </a:lnSpc>
              <a:buNone/>
            </a:pPr>
            <a:r>
              <a:rPr lang="en-US" sz="1150" dirty="0">
                <a:solidFill>
                  <a:srgbClr val="1218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(bufman::kPageSize - kPageHeaderSize)</a:t>
            </a:r>
            <a:endParaRPr lang="en-US" sz="1150" dirty="0"/>
          </a:p>
          <a:p>
            <a:pPr indent="0" marL="0">
              <a:lnSpc>
                <a:spcPts val="1725"/>
              </a:lnSpc>
              <a:buNone/>
            </a:pPr>
            <a:r>
              <a:rPr lang="en-US" sz="1150" dirty="0">
                <a:solidFill>
                  <a:srgbClr val="1218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- slot_capacity(record_size) * (record_size + 1);</a:t>
            </a:r>
            <a:endParaRPr lang="en-US" sz="1150" dirty="0"/>
          </a:p>
          <a:p>
            <a:pPr indent="0" marL="0">
              <a:lnSpc>
                <a:spcPts val="1725"/>
              </a:lnSpc>
              <a:buNone/>
            </a:pPr>
            <a:r>
              <a:rPr lang="en-US" sz="1150" dirty="0">
                <a:solidFill>
                  <a:srgbClr val="1218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  <a:p>
            <a:pPr indent="0" marL="0">
              <a:lnSpc>
                <a:spcPts val="1725"/>
              </a:lnSpc>
              <a:buNone/>
            </a:pPr>
            <a:endParaRPr lang="en-US" sz="1150" dirty="0"/>
          </a:p>
          <a:p>
            <a:pPr indent="0" marL="0">
              <a:lnSpc>
                <a:spcPts val="1725"/>
              </a:lnSpc>
              <a:buNone/>
            </a:pPr>
            <a:r>
              <a:rPr lang="en-US" sz="1150" dirty="0">
                <a:solidFill>
                  <a:srgbClr val="1218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std::size_t record_offset(std::size_t slot) const {</a:t>
            </a:r>
            <a:endParaRPr lang="en-US" sz="1150" dirty="0"/>
          </a:p>
          <a:p>
            <a:pPr indent="0" marL="0">
              <a:lnSpc>
                <a:spcPts val="1725"/>
              </a:lnSpc>
              <a:buNone/>
            </a:pPr>
            <a:r>
              <a:rPr lang="en-US" sz="1150" dirty="0">
                <a:solidFill>
                  <a:srgbClr val="1218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slot * record_size_;</a:t>
            </a:r>
            <a:endParaRPr lang="en-US" sz="1150" dirty="0"/>
          </a:p>
          <a:p>
            <a:pPr indent="0" marL="0">
              <a:lnSpc>
                <a:spcPts val="1725"/>
              </a:lnSpc>
              <a:buNone/>
            </a:pPr>
            <a:r>
              <a:rPr lang="en-US" sz="1150" dirty="0">
                <a:solidFill>
                  <a:srgbClr val="1218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  <a:p>
            <a:pPr indent="0" marL="0">
              <a:lnSpc>
                <a:spcPts val="1725"/>
              </a:lnSpc>
              <a:buNone/>
            </a:pPr>
            <a:endParaRPr lang="en-US" sz="1150" dirty="0"/>
          </a:p>
          <a:p>
            <a:pPr indent="0" marL="0">
              <a:lnSpc>
                <a:spcPts val="1725"/>
              </a:lnSpc>
              <a:buNone/>
            </a:pPr>
            <a:r>
              <a:rPr lang="en-US" sz="1150" dirty="0">
                <a:solidFill>
                  <a:srgbClr val="1218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std::size_t occupancy_offset(std::size_t slot) const {</a:t>
            </a:r>
            <a:endParaRPr lang="en-US" sz="1150" dirty="0"/>
          </a:p>
          <a:p>
            <a:pPr indent="0" marL="0">
              <a:lnSpc>
                <a:spcPts val="1725"/>
              </a:lnSpc>
              <a:buNone/>
            </a:pPr>
            <a:r>
              <a:rPr lang="en-US" sz="1150" dirty="0">
                <a:solidFill>
                  <a:srgbClr val="1218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kSlotCountOffset - capacity_ + slot;</a:t>
            </a:r>
            <a:endParaRPr lang="en-US" sz="1150" dirty="0"/>
          </a:p>
          <a:p>
            <a:pPr indent="0" marL="0">
              <a:lnSpc>
                <a:spcPts val="1725"/>
              </a:lnSpc>
              <a:buNone/>
            </a:pPr>
            <a:r>
              <a:rPr lang="en-US" sz="1150" dirty="0">
                <a:solidFill>
                  <a:srgbClr val="1218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903720" y="1431036"/>
            <a:ext cx="100584" cy="100584"/>
          </a:xfrm>
          <a:prstGeom prst="rect">
            <a:avLst/>
          </a:prstGeom>
          <a:solidFill>
            <a:srgbClr val="2C5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045452" y="1431036"/>
            <a:ext cx="100584" cy="100584"/>
          </a:xfrm>
          <a:prstGeom prst="rect">
            <a:avLst/>
          </a:prstGeom>
          <a:solidFill>
            <a:srgbClr val="B07D1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187184" y="1431036"/>
            <a:ext cx="100584" cy="100584"/>
          </a:xfrm>
          <a:prstGeom prst="rect">
            <a:avLst/>
          </a:prstGeom>
          <a:solidFill>
            <a:srgbClr val="2E8B6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79208" y="1298448"/>
            <a:ext cx="4187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2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slot costs R + 1 bytes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6903720" y="181051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= </a:t>
            </a:r>
            <a:pPr indent="0" marL="0">
              <a:buNone/>
            </a:pPr>
            <a:r>
              <a:rPr lang="en-US" sz="1700" b="1" dirty="0">
                <a:solidFill>
                  <a:srgbClr val="2C5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⌊ (4096 − 12) / (R + 1) ⌋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6903720" y="221284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= </a:t>
            </a:r>
            <a:pPr indent="0" marL="0">
              <a:buNone/>
            </a:pPr>
            <a:r>
              <a:rPr lang="en-US" sz="1700" b="1" dirty="0">
                <a:solidFill>
                  <a:srgbClr val="B07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(4096 − 12) − C · (R + 1)</a:t>
            </a:r>
            <a:endParaRPr lang="en-US" sz="17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03720" y="2816352"/>
          <a:ext cx="466344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188720"/>
                <a:gridCol w="11887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21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record size 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21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slots 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21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dead 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21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   (Person)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21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21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21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21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2042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21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21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21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21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Shape 14"/>
          <p:cNvSpPr/>
          <p:nvPr/>
        </p:nvSpPr>
        <p:spPr>
          <a:xfrm>
            <a:off x="6903720" y="4617720"/>
            <a:ext cx="4663440" cy="1143000"/>
          </a:xfrm>
          <a:prstGeom prst="roundRect">
            <a:avLst>
              <a:gd name="adj" fmla="val 4800"/>
            </a:avLst>
          </a:prstGeom>
          <a:solidFill>
            <a:srgbClr val="FDF5E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132320" y="4736592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B07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≤ D ≤ R  by construction.
</a:t>
            </a:r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B5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remainder after whole slots is always smaller than one more record-plus-byte, so it is simply left unused — no compaction, no bump pointer.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27432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2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Lifecycle:  bind → format or attach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21792" y="82296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view binds to a buffer; format() prepares a fresh page, attach() adopts bytes that are already there.</a:t>
            </a:r>
            <a:endParaRPr lang="en-US" sz="1350" dirty="0"/>
          </a:p>
        </p:txBody>
      </p:sp>
      <p:pic>
        <p:nvPicPr>
          <p:cNvPr id="4" name="Image 0" descr="/tmp/claude-0/-home-claude/36ca95e1-3347-554c-bdf6-ec846bdbd786/scratchpad/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225296"/>
            <a:ext cx="10881360" cy="26517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94360" y="4119372"/>
            <a:ext cx="100584" cy="100584"/>
          </a:xfrm>
          <a:prstGeom prst="rect">
            <a:avLst/>
          </a:prstGeom>
          <a:solidFill>
            <a:srgbClr val="2C5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36092" y="4119372"/>
            <a:ext cx="100584" cy="100584"/>
          </a:xfrm>
          <a:prstGeom prst="rect">
            <a:avLst/>
          </a:prstGeom>
          <a:solidFill>
            <a:srgbClr val="B07D1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77824" y="4119372"/>
            <a:ext cx="100584" cy="100584"/>
          </a:xfrm>
          <a:prstGeom prst="rect">
            <a:avLst/>
          </a:prstGeom>
          <a:solidFill>
            <a:srgbClr val="2E8B6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1069848" y="3986784"/>
            <a:ext cx="5468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2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every caller uses it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594360" y="4462272"/>
            <a:ext cx="5897880" cy="1481328"/>
          </a:xfrm>
          <a:prstGeom prst="roundRect">
            <a:avLst>
              <a:gd name="adj" fmla="val 3704"/>
            </a:avLst>
          </a:prstGeom>
          <a:solidFill>
            <a:srgbClr val="F2F4F8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795528" y="4608576"/>
            <a:ext cx="549554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1218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mgr.pin(file, page_id, f, error);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1218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SlottedPage page;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1218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page.bind(mgr.frame(f).buffer, bufman::kRecordSize);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1218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page.attach(error);      // revalidate the header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1218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page.put / get / erase / set_next_page ...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1218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mgr.unpin(f, /*was_dirty=*/true, error);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903720" y="4119372"/>
            <a:ext cx="100584" cy="100584"/>
          </a:xfrm>
          <a:prstGeom prst="rect">
            <a:avLst/>
          </a:prstGeom>
          <a:solidFill>
            <a:srgbClr val="2C5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045452" y="4119372"/>
            <a:ext cx="100584" cy="100584"/>
          </a:xfrm>
          <a:prstGeom prst="rect">
            <a:avLst/>
          </a:prstGeom>
          <a:solidFill>
            <a:srgbClr val="B07D1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187184" y="4119372"/>
            <a:ext cx="100584" cy="100584"/>
          </a:xfrm>
          <a:prstGeom prst="rect">
            <a:avLst/>
          </a:prstGeom>
          <a:solidFill>
            <a:srgbClr val="2E8B6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379208" y="3986784"/>
            <a:ext cx="4187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2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attach() is the guard</a:t>
            </a:r>
            <a:endParaRPr lang="en-US" sz="1900" dirty="0"/>
          </a:p>
        </p:txBody>
      </p:sp>
      <p:sp>
        <p:nvSpPr>
          <p:cNvPr id="15" name="Text 12"/>
          <p:cNvSpPr txBox="1"/>
          <p:nvPr/>
        </p:nvSpPr>
        <p:spPr>
          <a:xfrm>
            <a:off x="7086600" y="4462272"/>
            <a:ext cx="4480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8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2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reads the stored slot count and compares it with the value recomputed from the bound record size.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2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mismatch means corrupted or foreign bytes — a hard error, never silent trust.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594360" y="6053328"/>
            <a:ext cx="10972800" cy="530352"/>
          </a:xfrm>
          <a:prstGeom prst="roundRect">
            <a:avLst>
              <a:gd name="adj" fmla="val 10345"/>
            </a:avLst>
          </a:prstGeom>
          <a:solidFill>
            <a:srgbClr val="1218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68680" y="6053328"/>
            <a:ext cx="10424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erase() clears one occupancy byte.  </a:t>
            </a:r>
            <a:pPr indent="0" marL="0">
              <a:buNone/>
            </a:pPr>
            <a:r>
              <a:rPr lang="en-US" sz="1350" dirty="0">
                <a:solidFill>
                  <a:srgbClr val="B9C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record bytes stay behind as garbage — the occupancy array is the single source of truth.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SlottedPage — ex10</dc:title>
  <dc:subject>PptxGenJS Presentation</dc:subject>
  <dc:creator>Manuel Rodriguez</dc:creator>
  <cp:lastModifiedBy>Manuel Rodriguez</cp:lastModifiedBy>
  <cp:revision>1</cp:revision>
  <dcterms:created xsi:type="dcterms:W3CDTF">2026-09-17T18:20:50Z</dcterms:created>
  <dcterms:modified xsi:type="dcterms:W3CDTF">2026-09-17T18:20:50Z</dcterms:modified>
</cp:coreProperties>
</file>