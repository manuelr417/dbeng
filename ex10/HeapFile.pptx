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HeapFile is the layer that turns pages into a file of records. It owns the chain and the row-id contract; it delegates all byte work to SlottedPage and all disk work to BufferManager. Three members, nothing cached.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0 is formatted exactly like any slotted page so no new serialization code is needed — but its slots are never used and its prev is kNoPage forever. The header being the permanent head is what removes the special case from the first insert.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 in heap.md said to use the file's block count for the new page id. That is wrong once the pool holds dirty pages: they have not reached disk, so the count lags and would collide. previous + 1 is provably the first unused id because pages are allocated in increasing order and never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helper, three callers. Because the helper releases the pin on every failure path, none of find, update or erase can leak a pin. update's failed put also unpins clean, since nothing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Pinning one page per next() call means no long-lived pins and no interference with eviction. The documented precondition is that you do not insert or erase while an iterator is alive — the order under mutation is deliberately unspecified.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ex10  ·  heap file of slotted pages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498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HeapFile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F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 of slotted pages, addressed by row id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2473452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" y="2473452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2473452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61288" y="2340864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file owns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52928"/>
            <a:ext cx="5212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topology — which page follows which, and where a new page goes.</a:t>
            </a:r>
            <a:endParaRPr lang="en-US" sz="14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operations: create, open, scan, insert, find, update, erase, close, erase_file.</a:t>
            </a:r>
            <a:endParaRPr lang="en-US" sz="14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interprets bytes — every byte-level step goes through a SlottedPage bound to the frame it pinned.</a:t>
            </a:r>
            <a:endParaRPr lang="en-US" sz="14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touches the disk — every page arrives through the injected BufferManager.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20840" y="2473452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62572" y="2473452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04304" y="2473452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96328" y="2340864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object's state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720840" y="2852928"/>
            <a:ext cx="4800600" cy="1097280"/>
          </a:xfrm>
          <a:prstGeom prst="roundRect">
            <a:avLst>
              <a:gd name="adj" fmla="val 5000"/>
            </a:avLst>
          </a:prstGeom>
          <a:solidFill>
            <a:srgbClr val="1C244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922008" y="2999232"/>
            <a:ext cx="4398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7E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bufman::BufferManager&amp; manager_;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7E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bufman::File file_;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7E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open_ = false;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413308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cached tail, no record count, no free-space hint. Insert re-walks the chain every time — that walk is the specification, and there is nothing left to drift.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5650992"/>
            <a:ext cx="10835640" cy="658368"/>
          </a:xfrm>
          <a:prstGeom prst="roundRect">
            <a:avLst>
              <a:gd name="adj" fmla="val 8333"/>
            </a:avLst>
          </a:prstGeom>
          <a:solidFill>
            <a:srgbClr val="202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565099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values.  </a:t>
            </a:r>
            <a:pPr indent="0" marL="0">
              <a:buNone/>
            </a:pPr>
            <a:r>
              <a:rPr lang="en-US" sz="1400" dirty="0">
                <a:solidFill>
                  <a:srgbClr val="B9C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return plus a std::string&amp; error cleared on entry — "record not found" included.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chain, and how a record is addressed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229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are allocated once and never removed, so a page id is valid forever — only slot occupancy changes.</a:t>
            </a:r>
            <a:endParaRPr lang="en-US" sz="1350" dirty="0"/>
          </a:p>
        </p:txBody>
      </p:sp>
      <p:pic>
        <p:nvPicPr>
          <p:cNvPr id="4" name="Image 0" descr="/tmp/claude-0/-home-claude/36ca95e1-3347-554c-bdf6-ec846bdbd786/scratchpad/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07008"/>
            <a:ext cx="10881360" cy="2807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4210812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6092" y="4210812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7824" y="4210812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69848" y="4078224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heapfile/HeapFile.h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94360" y="4526280"/>
            <a:ext cx="5440680" cy="109728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95528" y="4672584"/>
            <a:ext cx="5038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RowId {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std::uint32_t page_id = 0;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std::uint32_t slot    = 0;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46520" y="4210812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8252" y="4210812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29984" y="4210812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22008" y="4078224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id is not a handle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valid only while its record exists. Erase frees the slot, and a later insert may hand out the same (page_id, slot) again — so a saved row id must not be reused after an erase.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5897880"/>
            <a:ext cx="10972800" cy="548640"/>
          </a:xfrm>
          <a:prstGeom prst="roundRect">
            <a:avLst>
              <a:gd name="adj" fmla="val 10000"/>
            </a:avLst>
          </a:prstGeom>
          <a:solidFill>
            <a:srgbClr val="121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5897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freshly created file is exactly one block.  </a:t>
            </a:r>
            <a:pPr indent="0" marL="0">
              <a:buNone/>
            </a:pPr>
            <a:r>
              <a:rPr lang="en-US" sz="1350" dirty="0">
                <a:solidFill>
                  <a:srgbClr val="B9C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header's next is kNoPage, so the first insert splices page 1 after it with no special case.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— the walk and the splice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229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page is pinned at any moment; the only two-step sequence in the class is splicing a new tail.</a:t>
            </a:r>
            <a:endParaRPr lang="en-US" sz="1350" dirty="0"/>
          </a:p>
        </p:txBody>
      </p:sp>
      <p:pic>
        <p:nvPicPr>
          <p:cNvPr id="4" name="Image 0" descr="/tmp/claude-0/-home-claude/36ca95e1-3347-554c-bdf6-ec846bdbd786/scratchpad/ins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1133856"/>
            <a:ext cx="877824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4009644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6092" y="4009644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7824" y="4009644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69848" y="3877056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body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94360" y="4334256"/>
            <a:ext cx="5897880" cy="2066544"/>
          </a:xfrm>
          <a:prstGeom prst="roundRect">
            <a:avLst>
              <a:gd name="adj" fmla="val 2655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95528" y="4480560"/>
            <a:ext cx="549554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std::optional&lt;std::size_t&gt; slot = page.first_free_slot();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(slot) {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page.put(*slot, person, error);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row_id = RowId{current, (std::uint32_t)*slot};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release(manager_, frame, true);   // unpin DIRTY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true;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 = current;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 = page.next_page();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release(manager_, frame, false);      // unpin clean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903720" y="4009644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45452" y="4009644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87184" y="4009644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79208" y="387705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overflow guard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903720" y="4334256"/>
            <a:ext cx="4663440" cy="2066544"/>
          </a:xfrm>
          <a:prstGeom prst="roundRect">
            <a:avLst>
              <a:gd name="adj" fmla="val 2655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104888" y="4480560"/>
            <a:ext cx="426110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(previous + 1 &gt;= kNoPage) {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 = "insert would need page id "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+ std::to_string(previous + 1)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+ ", beyond the 32-bit row id"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 range";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false;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· update · erase — one shared path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229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turn a RowId into one pinned, attached, occupied page — and the pin is released here on every failure.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403604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" y="1403604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403604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9848" y="1271016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pin_record_page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1755648"/>
            <a:ext cx="5897880" cy="2907792"/>
          </a:xfrm>
          <a:prstGeom prst="roundRect">
            <a:avLst>
              <a:gd name="adj" fmla="val 1887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95528" y="1901952"/>
            <a:ext cx="5495544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(row_id.page_id == 0) { /* header page */ }</a:t>
            </a:r>
            <a:endParaRPr lang="en-US" sz="980" dirty="0"/>
          </a:p>
          <a:p>
            <a:pPr indent="0" marL="0">
              <a:lnSpc>
                <a:spcPts val="1470"/>
              </a:lnSpc>
              <a:buNone/>
            </a:pPr>
            <a:endParaRPr lang="en-US" sz="980" dirty="0"/>
          </a:p>
          <a:p>
            <a:pPr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page exists iff it is resident in the pool or</a:t>
            </a:r>
            <a:endParaRPr lang="en-US" sz="980" dirty="0"/>
          </a:p>
          <a:p>
            <a:pPr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already written back — the on-disk block count</a:t>
            </a:r>
            <a:endParaRPr lang="en-US" sz="980" dirty="0"/>
          </a:p>
          <a:p>
            <a:pPr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alone would reject live, dirty pages</a:t>
            </a:r>
            <a:endParaRPr lang="en-US" sz="980" dirty="0"/>
          </a:p>
          <a:p>
            <a:pPr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(row_id.page_id &gt;= blocks &amp;&amp;</a:t>
            </a:r>
            <a:endParaRPr lang="en-US" sz="980" dirty="0"/>
          </a:p>
          <a:p>
            <a:pPr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!manager_.resident(file_, row_id.page_id)) {</a:t>
            </a:r>
            <a:endParaRPr lang="en-US" sz="980" dirty="0"/>
          </a:p>
          <a:p>
            <a:pPr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beyond the end of the file */</a:t>
            </a:r>
            <a:endParaRPr lang="en-US" sz="980" dirty="0"/>
          </a:p>
          <a:p>
            <a:pPr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lnSpc>
                <a:spcPts val="1470"/>
              </a:lnSpc>
              <a:buNone/>
            </a:pPr>
            <a:endParaRPr lang="en-US" sz="980" dirty="0"/>
          </a:p>
          <a:p>
            <a:pPr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manager_.pin(file_, row_id.page_id, frame, error);</a:t>
            </a:r>
            <a:endParaRPr lang="en-US" sz="980" dirty="0"/>
          </a:p>
          <a:p>
            <a:pPr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page.bind(manager_.frame(frame).buffer, kRecordSize);</a:t>
            </a:r>
            <a:endParaRPr lang="en-US" sz="980" dirty="0"/>
          </a:p>
          <a:p>
            <a:pPr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page.attach(error);</a:t>
            </a:r>
            <a:endParaRPr lang="en-US" sz="980" dirty="0"/>
          </a:p>
          <a:p>
            <a:pPr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page.is_occupied(row_id.slot, error);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903720" y="1403604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5452" y="1403604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87184" y="1403604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79208" y="127101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"not found"s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903720" y="1755648"/>
            <a:ext cx="4663440" cy="621792"/>
          </a:xfrm>
          <a:prstGeom prst="roundRect">
            <a:avLst>
              <a:gd name="adj" fmla="val 7353"/>
            </a:avLst>
          </a:prstGeom>
          <a:solidFill>
            <a:srgbClr val="EEF3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86600" y="175564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C5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0 is the header page;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C5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never stores records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03720" y="2487168"/>
            <a:ext cx="4663440" cy="621792"/>
          </a:xfrm>
          <a:prstGeom prst="roundRect">
            <a:avLst>
              <a:gd name="adj" fmla="val 7353"/>
            </a:avLst>
          </a:prstGeom>
          <a:solidFill>
            <a:srgbClr val="EEF3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86600" y="248716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C5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N is beyond the end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C5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the file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03720" y="3218688"/>
            <a:ext cx="4663440" cy="621792"/>
          </a:xfrm>
          <a:prstGeom prst="roundRect">
            <a:avLst>
              <a:gd name="adj" fmla="val 7353"/>
            </a:avLst>
          </a:prstGeom>
          <a:solidFill>
            <a:srgbClr val="FDF5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86600" y="321868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07D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 S is out of range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07D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(capacity 185)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3950208"/>
            <a:ext cx="4663440" cy="621792"/>
          </a:xfrm>
          <a:prstGeom prst="roundRect">
            <a:avLst>
              <a:gd name="adj" fmla="val 7353"/>
            </a:avLst>
          </a:prstGeom>
          <a:solidFill>
            <a:srgbClr val="EAF6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86600" y="395020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8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record at row id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8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(page P, slot S): the slot is free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4754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suite verifies these four are pairwise different, readable messages.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806440"/>
            <a:ext cx="10972800" cy="548640"/>
          </a:xfrm>
          <a:prstGeom prst="roundRect">
            <a:avLst>
              <a:gd name="adj" fmla="val 10000"/>
            </a:avLst>
          </a:prstGeom>
          <a:solidFill>
            <a:srgbClr val="121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58064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unpins clean; update and erase unpin dirty.  </a:t>
            </a:r>
            <a:pPr indent="0" marL="0">
              <a:buNone/>
            </a:pPr>
            <a:r>
              <a:rPr lang="en-US" sz="1350" dirty="0">
                <a:solidFill>
                  <a:srgbClr val="B9C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written by HeapFile itself — the bytes reach disk on eviction, flush_all, or close_all.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persistence, and the closed file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229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iterator holds three things: the owning file, a page id, and the next slot to inspect.</a:t>
            </a:r>
            <a:endParaRPr lang="en-US" sz="1350" dirty="0"/>
          </a:p>
        </p:txBody>
      </p:sp>
      <p:pic>
        <p:nvPicPr>
          <p:cNvPr id="4" name="Image 0" descr="/tmp/claude-0/-home-claude/36ca95e1-3347-554c-bdf6-ec846bdbd786/scratchpad/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188720"/>
            <a:ext cx="10607040" cy="2350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3822192"/>
            <a:ext cx="3529584" cy="1847088"/>
          </a:xfrm>
          <a:prstGeom prst="roundRect">
            <a:avLst>
              <a:gd name="adj" fmla="val 2970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0392" y="4096512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92124" y="4096512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33856" y="4096512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0392" y="42976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Exhaustion is not failure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4663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next() returns false with an empty error when the chain ends, and keeps reporting exhaustion on every later call. Failures fill the string.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9976" y="3822192"/>
            <a:ext cx="3529584" cy="1847088"/>
          </a:xfrm>
          <a:prstGeom prst="roundRect">
            <a:avLst>
              <a:gd name="adj" fmla="val 2970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36008" y="4096512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77740" y="4096512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19472" y="4096512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36008" y="42976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8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4636008" y="4663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mutation marks a frame dirty. The bytes reach disk on eviction, flush_all, or close_all — the heap never writes a page itself.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165592" y="3822192"/>
            <a:ext cx="3529584" cy="1847088"/>
          </a:xfrm>
          <a:prstGeom prst="roundRect">
            <a:avLst>
              <a:gd name="adj" fmla="val 2970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421624" y="4096512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63356" y="4096512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05088" y="4096512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21624" y="42976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 discipline</a:t>
            </a:r>
            <a:endParaRPr 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8421624" y="4663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close(), insert, find, update, erase, scan and a second close() all fail with exactly "heap file is not open".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94360" y="5961888"/>
            <a:ext cx="10972800" cy="548640"/>
          </a:xfrm>
          <a:prstGeom prst="roundRect">
            <a:avLst>
              <a:gd name="adj" fmla="val 10000"/>
            </a:avLst>
          </a:prstGeom>
          <a:solidFill>
            <a:srgbClr val="121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" y="596188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the hard way:  </a:t>
            </a:r>
            <a:pPr indent="0" marL="0">
              <a:buNone/>
            </a:pPr>
            <a:r>
              <a:rPr lang="en-US" sz="1350" dirty="0">
                <a:solidFill>
                  <a:srgbClr val="B9C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records through a two-frame pool, then close, reopen, and re-verify the count and both chain directions.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HeapFile — ex10</dc:title>
  <dc:subject>PptxGenJS Presentation</dc:subject>
  <dc:creator>Manuel Rodriguez</dc:creator>
  <cp:lastModifiedBy>Manuel Rodriguez</cp:lastModifiedBy>
  <cp:revision>1</cp:revision>
  <dcterms:created xsi:type="dcterms:W3CDTF">2026-09-17T18:31:47Z</dcterms:created>
  <dcterms:modified xsi:type="dcterms:W3CDTF">2026-09-17T18:31:47Z</dcterms:modified>
</cp:coreProperties>
</file>